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4CE0132-CEA7-8FD6-1D9F-81E9A3B55375}">
          <p14:sldIdLst>
            <p14:sldId id="256"/>
            <p14:sldId id="257"/>
          </p14:sldIdLst>
        </p14:section>
        <p14:section name="How it works" id="{434B71DC-5FA7-133B-9268-9C48E9A07110}">
          <p14:sldIdLst>
            <p14:sldId id="258"/>
            <p14:sldId id="259"/>
            <p14:sldId id="260"/>
            <p14:sldId id="261"/>
          </p14:sldIdLst>
        </p14:section>
        <p14:section name="Status and plan" id="{FFD3DB14-6A57-BB9D-3434-071627C47D8E}">
          <p14:sldIdLst>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42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0242C"/>
                </a:solidFill>
                <a:latin typeface="+mn-lt"/>
              </a:defRPr>
            </a:pPr>
            <a:r>
              <a:rPr lang="en-US" sz="1400" b="0" i="0" u="none" strike="noStrike">
                <a:solidFill>
                  <a:srgbClr val="20242C"/>
                </a:solidFill>
                <a:latin typeface="+mn-lt"/>
              </a:rPr>
              <a:t>20 requirements: built vs next</a:t>
            </a:r>
          </a:p>
        </c:rich>
      </c:tx>
      <c:overlay val="0"/>
    </c:title>
    <c:autoTitleDeleted val="0"/>
    <c:plotArea>
      <c:layout/>
      <c:doughnutChart>
        <c:varyColors val="1"/>
        <c:ser>
          <c:idx val="0"/>
          <c:order val="0"/>
          <c:tx>
            <c:strRef>
              <c:f>Sheet1!$B$1</c:f>
              <c:strCache>
                <c:ptCount val="1"/>
                <c:pt idx="0">
                  <c:v>Requirements</c:v>
                </c:pt>
              </c:strCache>
            </c:strRef>
          </c:tx>
          <c:spPr>
            <a:solidFill>
              <a:schemeClr val="accent1"/>
            </a:solidFill>
            <a:ln w="9525" cap="flat">
              <a:solidFill>
                <a:srgbClr val="F9F9F9"/>
              </a:solidFill>
              <a:prstDash val="solid"/>
              <a:round/>
            </a:ln>
            <a:effectLst/>
          </c:spPr>
          <c:dPt>
            <c:idx val="0"/>
            <c:bubble3D val="0"/>
            <c:spPr>
              <a:solidFill>
                <a:srgbClr val="2FB26B"/>
              </a:solidFill>
              <a:effectLst/>
            </c:spPr>
            <c:extLst>
              <c:ext xmlns:c16="http://schemas.microsoft.com/office/drawing/2014/chart" uri="{C3380CC4-5D6E-409C-BE32-E72D297353CC}">
                <c16:uniqueId val="{00000001-0AE7-437C-9194-B15F240A916B}"/>
              </c:ext>
            </c:extLst>
          </c:dPt>
          <c:dPt>
            <c:idx val="1"/>
            <c:bubble3D val="0"/>
            <c:spPr>
              <a:solidFill>
                <a:srgbClr val="D1D5DB"/>
              </a:solidFill>
              <a:effectLst/>
            </c:spPr>
            <c:extLst>
              <c:ext xmlns:c16="http://schemas.microsoft.com/office/drawing/2014/chart" uri="{C3380CC4-5D6E-409C-BE32-E72D297353CC}">
                <c16:uniqueId val="{00000003-0AE7-437C-9194-B15F240A916B}"/>
              </c:ext>
            </c:extLst>
          </c:dPt>
          <c:dLbls>
            <c:dLbl>
              <c:idx val="0"/>
              <c:numFmt formatCode="General" sourceLinked="0"/>
              <c:spPr/>
              <c:txPr>
                <a:bodyPr/>
                <a:lstStyle/>
                <a:p>
                  <a:pPr>
                    <a:defRPr sz="1600" b="1" i="0" u="none" strike="noStrike">
                      <a:solidFill>
                        <a:srgbClr val="1B1F27"/>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AE7-437C-9194-B15F240A916B}"/>
                </c:ext>
              </c:extLst>
            </c:dLbl>
            <c:dLbl>
              <c:idx val="1"/>
              <c:numFmt formatCode="General" sourceLinked="0"/>
              <c:spPr/>
              <c:txPr>
                <a:bodyPr/>
                <a:lstStyle/>
                <a:p>
                  <a:pPr>
                    <a:defRPr sz="1600" b="1" i="0" u="none" strike="noStrike">
                      <a:solidFill>
                        <a:srgbClr val="1B1F27"/>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AE7-437C-9194-B15F240A916B}"/>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Built</c:v>
                </c:pt>
                <c:pt idx="1">
                  <c:v>Next</c:v>
                </c:pt>
              </c:strCache>
            </c:strRef>
          </c:cat>
          <c:val>
            <c:numRef>
              <c:f>Sheet1!$B$2:$B$3</c:f>
              <c:numCache>
                <c:formatCode>General</c:formatCode>
                <c:ptCount val="2"/>
                <c:pt idx="0">
                  <c:v>16</c:v>
                </c:pt>
                <c:pt idx="1">
                  <c:v>4</c:v>
                </c:pt>
              </c:numCache>
            </c:numRef>
          </c:val>
          <c:extLst>
            <c:ext xmlns:c16="http://schemas.microsoft.com/office/drawing/2014/chart" uri="{C3380CC4-5D6E-409C-BE32-E72D297353CC}">
              <c16:uniqueId val="{00000004-0AE7-437C-9194-B15F240A916B}"/>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200">
              <a:solidFill>
                <a:srgbClr val="3A415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0242C"/>
                </a:solidFill>
                <a:latin typeface="+mn-lt"/>
              </a:defRPr>
            </a:pPr>
            <a:r>
              <a:rPr lang="en-US" sz="1400" b="0" i="0" u="none" strike="noStrike">
                <a:solidFill>
                  <a:srgbClr val="20242C"/>
                </a:solidFill>
                <a:latin typeface="+mn-lt"/>
              </a:rPr>
              <a:t>One-time cost by scenario</a:t>
            </a:r>
          </a:p>
        </c:rich>
      </c:tx>
      <c:overlay val="0"/>
    </c:title>
    <c:autoTitleDeleted val="0"/>
    <c:plotArea>
      <c:layout/>
      <c:barChart>
        <c:barDir val="col"/>
        <c:grouping val="clustered"/>
        <c:varyColors val="0"/>
        <c:ser>
          <c:idx val="0"/>
          <c:order val="0"/>
          <c:tx>
            <c:strRef>
              <c:f>Sheet1!$B$1</c:f>
              <c:strCache>
                <c:ptCount val="1"/>
                <c:pt idx="0">
                  <c:v>One-time cost ($K)</c:v>
                </c:pt>
              </c:strCache>
            </c:strRef>
          </c:tx>
          <c:spPr>
            <a:solidFill>
              <a:srgbClr val="9CA3AF"/>
            </a:solidFill>
            <a:effectLst/>
          </c:spPr>
          <c:invertIfNegative val="0"/>
          <c:dPt>
            <c:idx val="0"/>
            <c:invertIfNegative val="0"/>
            <c:bubble3D val="0"/>
            <c:spPr>
              <a:solidFill>
                <a:srgbClr val="9CA3AF"/>
              </a:solidFill>
              <a:effectLst/>
            </c:spPr>
            <c:extLst>
              <c:ext xmlns:c16="http://schemas.microsoft.com/office/drawing/2014/chart" uri="{C3380CC4-5D6E-409C-BE32-E72D297353CC}">
                <c16:uniqueId val="{00000001-2D86-4B9B-A4BD-08E7E32B6A5D}"/>
              </c:ext>
            </c:extLst>
          </c:dPt>
          <c:dPt>
            <c:idx val="1"/>
            <c:invertIfNegative val="0"/>
            <c:bubble3D val="0"/>
            <c:spPr>
              <a:solidFill>
                <a:srgbClr val="E5484D"/>
              </a:solidFill>
              <a:effectLst/>
            </c:spPr>
            <c:extLst>
              <c:ext xmlns:c16="http://schemas.microsoft.com/office/drawing/2014/chart" uri="{C3380CC4-5D6E-409C-BE32-E72D297353CC}">
                <c16:uniqueId val="{00000003-2D86-4B9B-A4BD-08E7E32B6A5D}"/>
              </c:ext>
            </c:extLst>
          </c:dPt>
          <c:dPt>
            <c:idx val="2"/>
            <c:invertIfNegative val="0"/>
            <c:bubble3D val="0"/>
            <c:spPr>
              <a:solidFill>
                <a:srgbClr val="9CA3AF"/>
              </a:solidFill>
              <a:effectLst/>
            </c:spPr>
            <c:extLst>
              <c:ext xmlns:c16="http://schemas.microsoft.com/office/drawing/2014/chart" uri="{C3380CC4-5D6E-409C-BE32-E72D297353CC}">
                <c16:uniqueId val="{00000005-2D86-4B9B-A4BD-08E7E32B6A5D}"/>
              </c:ext>
            </c:extLst>
          </c:dPt>
          <c:dLbls>
            <c:numFmt formatCode="\$#,##0.0&quot;K&quot;" sourceLinked="0"/>
            <c:spPr>
              <a:noFill/>
              <a:ln>
                <a:noFill/>
              </a:ln>
              <a:effectLst/>
            </c:spPr>
            <c:txPr>
              <a:bodyPr/>
              <a:lstStyle/>
              <a:p>
                <a:pPr>
                  <a:defRPr sz="1400" b="1" i="0" u="none" strike="noStrike">
                    <a:solidFill>
                      <a:srgbClr val="1B1F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Lean</c:v>
                </c:pt>
                <c:pt idx="1">
                  <c:v>Base</c:v>
                </c:pt>
                <c:pt idx="2">
                  <c:v>Full</c:v>
                </c:pt>
              </c:strCache>
            </c:strRef>
          </c:cat>
          <c:val>
            <c:numRef>
              <c:f>Sheet1!$B$2:$B$4</c:f>
              <c:numCache>
                <c:formatCode>General</c:formatCode>
                <c:ptCount val="3"/>
                <c:pt idx="0">
                  <c:v>51.7</c:v>
                </c:pt>
                <c:pt idx="1">
                  <c:v>90.6</c:v>
                </c:pt>
                <c:pt idx="2">
                  <c:v>142.30000000000001</c:v>
                </c:pt>
              </c:numCache>
            </c:numRef>
          </c:val>
          <c:extLst>
            <c:ext xmlns:c16="http://schemas.microsoft.com/office/drawing/2014/chart" uri="{C3380CC4-5D6E-409C-BE32-E72D297353CC}">
              <c16:uniqueId val="{00000006-2D86-4B9B-A4BD-08E7E32B6A5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A4150"/>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543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Good morning. This is the Stress-Aware Driving App: a prototype that watches a driver's heart signal, spots sustained distress, and responds in stages, from a warning to a simulated pull-over onto the shoulder. I'll cover why it matters, how it works, what is built, what it costs, and what comes next, in about five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Heart disease is the leading cause of US deaths. Medical emergencies behind the wheel are a small share of crashes, about 1.3 percent of drivers in one NHTSA survey, but those crashes are more often severe. Drivers who have an event often have a short window to act. That window is the gap this product targets.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Here is the path. A sensor reads pulse and beat intervals. The car app decodes it and checks it is plausible. The AI layer scores distress from zero to one hundred. The agent only acts if distress persists. If it does, the simulated car slows, merges right, and stops on the shoulder. All vehicle control is simulated.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score combines two signals. Heart rate above your resting baseline can add up to sixty points, and low heart-rate variability can add up to forty. A score of sixty starts the timers; eighty or more for twenty seconds escalates. These are starting defaults, not clinical thresholds.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agent climbs a ladder. Normal: lane one at seventy miles an hour. Watch: distress for under five seconds, we only observe. Intervene: five seconds sustained, the car slows and merges right. Escalate: eighty or more for twenty seconds, it stops on the shoulder and starts a fifteen second countdown.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Safety is built in. The driver can cancel any escalation. If they do not respond, a personal contact is notified, never 911, and a manual call button is always on screen. Guardrails reject impossible readings and limit how fast speed can change. And all vehicle control stays in a simulator.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Sixteen of twenty requirements are built, and all six scenario evals pass. Next up are four items: the dead-man's alert for sensor loss, watch relay support, notification retries, and a confidence gate before any intervention.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Be clear about the limits. Heart rate and variability cannot separate stress from a cardiac event, so this flags distress and never diagnoses. Wrist sensors are noisy, a dead battery can look like a calm driver, and real vehicle control would need functional-safety validation. Those limits shape our roadmap.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The roadmap has four phases. Prototype is done. Harden is next: the dead-man's alert, a confidence gate, a noise filter, and notification retries. Then validate on recorded data, including skin tone and motion. Two gates keep us honest: first, core requirements built and evals green; then, targets met on recorded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Finishing phases one to three costs about ninety-one thousand dollars in the base case, from about fifty-two thousand lean to one hundred forty-two thousand with external validation. Ninety-five percent is people time, so hours and rates matter far more than hardware. Running it costs about nine thousand dollars a year. These are assumptions to replace with your own quotes.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Our North Star is the safe-response rate: how often the car starts slowing within six seconds of sustained distress, with zero false interventions on calm sessions. Three decisions for now: pick the first supported watch, build the dead-man's alert, and start collecting recorded sessions. Thank you, and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1371600"/>
            <a:ext cx="5120640" cy="15544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1"/>
          <p:cNvSpPr>
            <a:spLocks noGrp="1"/>
          </p:cNvSpPr>
          <p:nvPr>
            <p:ph type="body" idx="102" hasCustomPrompt="1"/>
          </p:nvPr>
        </p:nvSpPr>
        <p:spPr>
          <a:xfrm>
            <a:off x="548640" y="3154680"/>
            <a:ext cx="4937760" cy="91440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548640" y="822960"/>
            <a:ext cx="4572000" cy="137160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4" name="Text 1"/>
          <p:cNvSpPr>
            <a:spLocks noGrp="1"/>
          </p:cNvSpPr>
          <p:nvPr>
            <p:ph type="body" idx="102" hasCustomPrompt="1"/>
          </p:nvPr>
        </p:nvSpPr>
        <p:spPr>
          <a:xfrm>
            <a:off x="548640" y="2377440"/>
            <a:ext cx="4297680" cy="155448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1371600"/>
            <a:ext cx="5120640" cy="1554480"/>
          </a:xfrm>
          <a:prstGeom prst="rect">
            <a:avLst/>
          </a:prstGeom>
          <a:noFill/>
          <a:ln/>
        </p:spPr>
        <p:txBody>
          <a:bodyPr wrap="square" lIns="0" tIns="0" rIns="0" bIns="0" rtlCol="0" anchor="b"/>
          <a:lstStyle/>
          <a:p>
            <a:pPr marL="0" indent="0" algn="l">
              <a:buNone/>
            </a:pPr>
            <a:r>
              <a:rPr lang="en-US" sz="4400" b="1" dirty="0">
                <a:solidFill>
                  <a:schemeClr val="bg1"/>
                </a:solidFill>
              </a:rPr>
              <a:t>Stress-Aware Driving App</a:t>
            </a:r>
            <a:endParaRPr lang="en-US" sz="4400" dirty="0"/>
          </a:p>
        </p:txBody>
      </p:sp>
      <p:sp>
        <p:nvSpPr>
          <p:cNvPr id="3" name="Text 1"/>
          <p:cNvSpPr>
            <a:spLocks noGrp="1"/>
          </p:cNvSpPr>
          <p:nvPr>
            <p:ph type="body" idx="102" hasCustomPrompt="1"/>
          </p:nvPr>
        </p:nvSpPr>
        <p:spPr>
          <a:xfrm>
            <a:off x="548640" y="3154680"/>
            <a:ext cx="4937760" cy="914400"/>
          </a:xfrm>
          <a:prstGeom prst="rect">
            <a:avLst/>
          </a:prstGeom>
          <a:noFill/>
          <a:ln/>
        </p:spPr>
        <p:txBody>
          <a:bodyPr wrap="square" lIns="0" tIns="0" rIns="0" bIns="0" rtlCol="0" anchor="t"/>
          <a:lstStyle/>
          <a:p>
            <a:pPr marL="0" indent="0">
              <a:buNone/>
            </a:pPr>
            <a:r>
              <a:rPr lang="en-US" sz="1800" dirty="0">
                <a:solidFill>
                  <a:schemeClr val="bg2"/>
                </a:solidFill>
              </a:rPr>
              <a:t>Spotting driver distress from a heart signal, and stopping safely. AI product overview, October 2026.</a:t>
            </a:r>
          </a:p>
          <a:p>
            <a:pPr marL="0" indent="0">
              <a:buNone/>
            </a:pPr>
            <a:endParaRPr lang="en-US" dirty="0"/>
          </a:p>
          <a:p>
            <a:pPr marL="0" indent="0">
              <a:buNone/>
            </a:pPr>
            <a:r>
              <a:rPr lang="en-US" sz="1800" dirty="0"/>
              <a:t>Affreen Jha</a:t>
            </a:r>
          </a:p>
        </p:txBody>
      </p:sp>
      <p:sp>
        <p:nvSpPr>
          <p:cNvPr id="4" name="Hero circle"/>
          <p:cNvSpPr/>
          <p:nvPr/>
        </p:nvSpPr>
        <p:spPr>
          <a:xfrm>
            <a:off x="5989320" y="1143000"/>
            <a:ext cx="2468880" cy="2468880"/>
          </a:xfrm>
          <a:prstGeom prst="ellipse">
            <a:avLst/>
          </a:prstGeom>
          <a:solidFill>
            <a:schemeClr val="accent1"/>
          </a:solidFill>
          <a:ln w="12700">
            <a:solidFill>
              <a:schemeClr val="accent1"/>
            </a:solidFill>
            <a:prstDash val="solid"/>
          </a:ln>
        </p:spPr>
      </p:sp>
      <p:pic>
        <p:nvPicPr>
          <p:cNvPr id="5" name="Hero heart icon" descr="preencoded.png"/>
          <p:cNvPicPr>
            <a:picLocks noChangeAspect="1"/>
          </p:cNvPicPr>
          <p:nvPr/>
        </p:nvPicPr>
        <p:blipFill>
          <a:blip r:embed="rId3"/>
          <a:stretch>
            <a:fillRect/>
          </a:stretch>
        </p:blipFill>
        <p:spPr>
          <a:xfrm>
            <a:off x="6583680" y="1737360"/>
            <a:ext cx="1280160" cy="1280160"/>
          </a:xfrm>
          <a:prstGeom prst="rect">
            <a:avLst/>
          </a:prstGeom>
        </p:spPr>
      </p:pic>
      <p:sp>
        <p:nvSpPr>
          <p:cNvPr id="6" name="Watch circle"/>
          <p:cNvSpPr/>
          <p:nvPr/>
        </p:nvSpPr>
        <p:spPr>
          <a:xfrm>
            <a:off x="5806440" y="3611880"/>
            <a:ext cx="731520" cy="731520"/>
          </a:xfrm>
          <a:prstGeom prst="ellipse">
            <a:avLst/>
          </a:prstGeom>
          <a:solidFill>
            <a:schemeClr val="accent5"/>
          </a:solidFill>
          <a:ln w="12700">
            <a:solidFill>
              <a:schemeClr val="accent5"/>
            </a:solidFill>
            <a:prstDash val="solid"/>
          </a:ln>
        </p:spPr>
      </p:sp>
      <p:pic>
        <p:nvPicPr>
          <p:cNvPr id="7" name="Watch icon" descr="preencoded.png"/>
          <p:cNvPicPr>
            <a:picLocks noChangeAspect="1"/>
          </p:cNvPicPr>
          <p:nvPr/>
        </p:nvPicPr>
        <p:blipFill>
          <a:blip r:embed="rId4"/>
          <a:stretch>
            <a:fillRect/>
          </a:stretch>
        </p:blipFill>
        <p:spPr>
          <a:xfrm>
            <a:off x="5982005" y="3787445"/>
            <a:ext cx="380390" cy="380390"/>
          </a:xfrm>
          <a:prstGeom prst="rect">
            <a:avLst/>
          </a:prstGeom>
        </p:spPr>
      </p:pic>
      <p:sp>
        <p:nvSpPr>
          <p:cNvPr id="8" name="Car circle"/>
          <p:cNvSpPr/>
          <p:nvPr/>
        </p:nvSpPr>
        <p:spPr>
          <a:xfrm>
            <a:off x="6903720" y="3749040"/>
            <a:ext cx="731520" cy="731520"/>
          </a:xfrm>
          <a:prstGeom prst="ellipse">
            <a:avLst/>
          </a:prstGeom>
          <a:solidFill>
            <a:schemeClr val="accent5"/>
          </a:solidFill>
          <a:ln w="12700">
            <a:solidFill>
              <a:schemeClr val="accent5"/>
            </a:solidFill>
            <a:prstDash val="solid"/>
          </a:ln>
        </p:spPr>
      </p:sp>
      <p:pic>
        <p:nvPicPr>
          <p:cNvPr id="9" name="Car icon" descr="preencoded.png"/>
          <p:cNvPicPr>
            <a:picLocks noChangeAspect="1"/>
          </p:cNvPicPr>
          <p:nvPr/>
        </p:nvPicPr>
        <p:blipFill>
          <a:blip r:embed="rId5"/>
          <a:stretch>
            <a:fillRect/>
          </a:stretch>
        </p:blipFill>
        <p:spPr>
          <a:xfrm>
            <a:off x="7079285" y="3924605"/>
            <a:ext cx="380390" cy="380390"/>
          </a:xfrm>
          <a:prstGeom prst="rect">
            <a:avLst/>
          </a:prstGeom>
        </p:spPr>
      </p:pic>
      <p:sp>
        <p:nvSpPr>
          <p:cNvPr id="10" name="Shield circle"/>
          <p:cNvSpPr/>
          <p:nvPr/>
        </p:nvSpPr>
        <p:spPr>
          <a:xfrm>
            <a:off x="8001000" y="3611880"/>
            <a:ext cx="731520" cy="731520"/>
          </a:xfrm>
          <a:prstGeom prst="ellipse">
            <a:avLst/>
          </a:prstGeom>
          <a:solidFill>
            <a:schemeClr val="accent5"/>
          </a:solidFill>
          <a:ln w="12700">
            <a:solidFill>
              <a:schemeClr val="accent5"/>
            </a:solidFill>
            <a:prstDash val="solid"/>
          </a:ln>
        </p:spPr>
      </p:sp>
      <p:pic>
        <p:nvPicPr>
          <p:cNvPr id="11" name="Shield icon" descr="preencoded.png"/>
          <p:cNvPicPr>
            <a:picLocks noChangeAspect="1"/>
          </p:cNvPicPr>
          <p:nvPr/>
        </p:nvPicPr>
        <p:blipFill>
          <a:blip r:embed="rId6"/>
          <a:stretch>
            <a:fillRect/>
          </a:stretch>
        </p:blipFill>
        <p:spPr>
          <a:xfrm>
            <a:off x="8176565" y="3787445"/>
            <a:ext cx="380390" cy="3803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A rare event with severe outcomes</a:t>
            </a:r>
            <a:endParaRPr lang="en-US" sz="3600" dirty="0"/>
          </a:p>
        </p:txBody>
      </p:sp>
      <p:sp>
        <p:nvSpPr>
          <p:cNvPr id="3" name="Stat card 1"/>
          <p:cNvSpPr/>
          <p:nvPr/>
        </p:nvSpPr>
        <p:spPr>
          <a:xfrm>
            <a:off x="457200" y="1508760"/>
            <a:ext cx="2560320" cy="2377440"/>
          </a:xfrm>
          <a:prstGeom prst="roundRect">
            <a:avLst>
              <a:gd name="adj" fmla="val 3077"/>
            </a:avLst>
          </a:prstGeom>
          <a:solidFill>
            <a:schemeClr val="bg2"/>
          </a:solidFill>
          <a:ln w="12700">
            <a:solidFill>
              <a:schemeClr val="bg2"/>
            </a:solidFill>
            <a:prstDash val="solid"/>
          </a:ln>
        </p:spPr>
      </p:sp>
      <p:sp>
        <p:nvSpPr>
          <p:cNvPr id="4" name="Stat 1 circle"/>
          <p:cNvSpPr/>
          <p:nvPr/>
        </p:nvSpPr>
        <p:spPr>
          <a:xfrm>
            <a:off x="685800" y="1691640"/>
            <a:ext cx="548640" cy="548640"/>
          </a:xfrm>
          <a:prstGeom prst="ellipse">
            <a:avLst/>
          </a:prstGeom>
          <a:solidFill>
            <a:schemeClr val="accent5"/>
          </a:solidFill>
          <a:ln w="12700">
            <a:solidFill>
              <a:schemeClr val="accent5"/>
            </a:solidFill>
            <a:prstDash val="solid"/>
          </a:ln>
        </p:spPr>
      </p:sp>
      <p:pic>
        <p:nvPicPr>
          <p:cNvPr id="5" name="Stat 1 icon" descr="preencoded.png"/>
          <p:cNvPicPr>
            <a:picLocks noChangeAspect="1"/>
          </p:cNvPicPr>
          <p:nvPr/>
        </p:nvPicPr>
        <p:blipFill>
          <a:blip r:embed="rId3"/>
          <a:stretch>
            <a:fillRect/>
          </a:stretch>
        </p:blipFill>
        <p:spPr>
          <a:xfrm>
            <a:off x="817474" y="1823314"/>
            <a:ext cx="285293" cy="285293"/>
          </a:xfrm>
          <a:prstGeom prst="rect">
            <a:avLst/>
          </a:prstGeom>
        </p:spPr>
      </p:pic>
      <p:sp>
        <p:nvSpPr>
          <p:cNvPr id="6" name="Stat number 1"/>
          <p:cNvSpPr txBox="1"/>
          <p:nvPr/>
        </p:nvSpPr>
        <p:spPr>
          <a:xfrm>
            <a:off x="685800" y="2377440"/>
            <a:ext cx="2194560" cy="594360"/>
          </a:xfrm>
          <a:prstGeom prst="rect">
            <a:avLst/>
          </a:prstGeom>
          <a:noFill/>
          <a:ln/>
        </p:spPr>
        <p:txBody>
          <a:bodyPr wrap="square" lIns="0" tIns="0" rIns="0" bIns="0" rtlCol="0" anchor="t"/>
          <a:lstStyle/>
          <a:p>
            <a:pPr marL="0" indent="0">
              <a:buNone/>
            </a:pPr>
            <a:r>
              <a:rPr lang="en-US" sz="4000" b="1" dirty="0">
                <a:solidFill>
                  <a:schemeClr val="accent6"/>
                </a:solidFill>
                <a:latin typeface="Cambria" pitchFamily="34" charset="0"/>
                <a:ea typeface="Cambria" pitchFamily="34" charset="-122"/>
                <a:cs typeface="Cambria" pitchFamily="34" charset="-120"/>
              </a:rPr>
              <a:t>683,491</a:t>
            </a:r>
            <a:endParaRPr lang="en-US" sz="4000" dirty="0"/>
          </a:p>
        </p:txBody>
      </p:sp>
      <p:sp>
        <p:nvSpPr>
          <p:cNvPr id="7" name="Stat label 1"/>
          <p:cNvSpPr txBox="1"/>
          <p:nvPr/>
        </p:nvSpPr>
        <p:spPr>
          <a:xfrm>
            <a:off x="685800" y="3017520"/>
            <a:ext cx="2103120" cy="640080"/>
          </a:xfrm>
          <a:prstGeom prst="rect">
            <a:avLst/>
          </a:prstGeom>
          <a:noFill/>
          <a:ln/>
        </p:spPr>
        <p:txBody>
          <a:bodyPr wrap="square" lIns="0" tIns="0" rIns="0" bIns="0" rtlCol="0" anchor="t"/>
          <a:lstStyle/>
          <a:p>
            <a:pPr marL="0" indent="0">
              <a:buNone/>
            </a:pPr>
            <a:r>
              <a:rPr lang="en-US" sz="1400" dirty="0">
                <a:solidFill>
                  <a:schemeClr val="tx1"/>
                </a:solidFill>
              </a:rPr>
              <a:t>US heart disease deaths in 2024, the leading cause</a:t>
            </a:r>
            <a:endParaRPr lang="en-US" sz="1400" dirty="0"/>
          </a:p>
        </p:txBody>
      </p:sp>
      <p:sp>
        <p:nvSpPr>
          <p:cNvPr id="8" name="Stat card 2"/>
          <p:cNvSpPr/>
          <p:nvPr/>
        </p:nvSpPr>
        <p:spPr>
          <a:xfrm>
            <a:off x="3291840" y="1508760"/>
            <a:ext cx="2560320" cy="2377440"/>
          </a:xfrm>
          <a:prstGeom prst="roundRect">
            <a:avLst>
              <a:gd name="adj" fmla="val 3077"/>
            </a:avLst>
          </a:prstGeom>
          <a:solidFill>
            <a:schemeClr val="bg2"/>
          </a:solidFill>
          <a:ln w="12700">
            <a:solidFill>
              <a:schemeClr val="bg2"/>
            </a:solidFill>
            <a:prstDash val="solid"/>
          </a:ln>
        </p:spPr>
      </p:sp>
      <p:sp>
        <p:nvSpPr>
          <p:cNvPr id="9" name="Stat 2 circle"/>
          <p:cNvSpPr/>
          <p:nvPr/>
        </p:nvSpPr>
        <p:spPr>
          <a:xfrm>
            <a:off x="3520440" y="1691640"/>
            <a:ext cx="548640" cy="548640"/>
          </a:xfrm>
          <a:prstGeom prst="ellipse">
            <a:avLst/>
          </a:prstGeom>
          <a:solidFill>
            <a:schemeClr val="accent5"/>
          </a:solidFill>
          <a:ln w="12700">
            <a:solidFill>
              <a:schemeClr val="accent5"/>
            </a:solidFill>
            <a:prstDash val="solid"/>
          </a:ln>
        </p:spPr>
      </p:sp>
      <p:pic>
        <p:nvPicPr>
          <p:cNvPr id="10" name="Stat 2 icon" descr="preencoded.png"/>
          <p:cNvPicPr>
            <a:picLocks noChangeAspect="1"/>
          </p:cNvPicPr>
          <p:nvPr/>
        </p:nvPicPr>
        <p:blipFill>
          <a:blip r:embed="rId4"/>
          <a:stretch>
            <a:fillRect/>
          </a:stretch>
        </p:blipFill>
        <p:spPr>
          <a:xfrm>
            <a:off x="3652114" y="1823314"/>
            <a:ext cx="285293" cy="285293"/>
          </a:xfrm>
          <a:prstGeom prst="rect">
            <a:avLst/>
          </a:prstGeom>
        </p:spPr>
      </p:pic>
      <p:sp>
        <p:nvSpPr>
          <p:cNvPr id="11" name="Stat number 2"/>
          <p:cNvSpPr txBox="1"/>
          <p:nvPr/>
        </p:nvSpPr>
        <p:spPr>
          <a:xfrm>
            <a:off x="3520440" y="2377440"/>
            <a:ext cx="2194560" cy="594360"/>
          </a:xfrm>
          <a:prstGeom prst="rect">
            <a:avLst/>
          </a:prstGeom>
          <a:noFill/>
          <a:ln/>
        </p:spPr>
        <p:txBody>
          <a:bodyPr wrap="square" lIns="0" tIns="0" rIns="0" bIns="0" rtlCol="0" anchor="t"/>
          <a:lstStyle/>
          <a:p>
            <a:pPr marL="0" indent="0">
              <a:buNone/>
            </a:pPr>
            <a:r>
              <a:rPr lang="en-US" sz="4000" b="1" dirty="0">
                <a:solidFill>
                  <a:schemeClr val="accent6"/>
                </a:solidFill>
                <a:latin typeface="Cambria" pitchFamily="34" charset="0"/>
                <a:ea typeface="Cambria" pitchFamily="34" charset="-122"/>
                <a:cs typeface="Cambria" pitchFamily="34" charset="-120"/>
              </a:rPr>
              <a:t>1.3%</a:t>
            </a:r>
            <a:endParaRPr lang="en-US" sz="4000" dirty="0"/>
          </a:p>
        </p:txBody>
      </p:sp>
      <p:sp>
        <p:nvSpPr>
          <p:cNvPr id="12" name="Stat label 2"/>
          <p:cNvSpPr txBox="1"/>
          <p:nvPr/>
        </p:nvSpPr>
        <p:spPr>
          <a:xfrm>
            <a:off x="3520440" y="3017520"/>
            <a:ext cx="2103120" cy="640080"/>
          </a:xfrm>
          <a:prstGeom prst="rect">
            <a:avLst/>
          </a:prstGeom>
          <a:noFill/>
          <a:ln/>
        </p:spPr>
        <p:txBody>
          <a:bodyPr wrap="square" lIns="0" tIns="0" rIns="0" bIns="0" rtlCol="0" anchor="t"/>
          <a:lstStyle/>
          <a:p>
            <a:pPr marL="0" indent="0">
              <a:buNone/>
            </a:pPr>
            <a:r>
              <a:rPr lang="en-US" sz="1400" dirty="0">
                <a:solidFill>
                  <a:schemeClr val="tx1"/>
                </a:solidFill>
              </a:rPr>
              <a:t>of drivers in surveyed US crashes were in a medical emergency</a:t>
            </a:r>
            <a:endParaRPr lang="en-US" sz="1400" dirty="0"/>
          </a:p>
        </p:txBody>
      </p:sp>
      <p:sp>
        <p:nvSpPr>
          <p:cNvPr id="13" name="Stat card 3"/>
          <p:cNvSpPr/>
          <p:nvPr/>
        </p:nvSpPr>
        <p:spPr>
          <a:xfrm>
            <a:off x="6126480" y="1508760"/>
            <a:ext cx="2560320" cy="2377440"/>
          </a:xfrm>
          <a:prstGeom prst="roundRect">
            <a:avLst>
              <a:gd name="adj" fmla="val 3077"/>
            </a:avLst>
          </a:prstGeom>
          <a:solidFill>
            <a:schemeClr val="bg2"/>
          </a:solidFill>
          <a:ln w="12700">
            <a:solidFill>
              <a:schemeClr val="bg2"/>
            </a:solidFill>
            <a:prstDash val="solid"/>
          </a:ln>
        </p:spPr>
      </p:sp>
      <p:sp>
        <p:nvSpPr>
          <p:cNvPr id="14" name="Stat 3 circle"/>
          <p:cNvSpPr/>
          <p:nvPr/>
        </p:nvSpPr>
        <p:spPr>
          <a:xfrm>
            <a:off x="6355080" y="1691640"/>
            <a:ext cx="548640" cy="548640"/>
          </a:xfrm>
          <a:prstGeom prst="ellipse">
            <a:avLst/>
          </a:prstGeom>
          <a:solidFill>
            <a:schemeClr val="accent5"/>
          </a:solidFill>
          <a:ln w="12700">
            <a:solidFill>
              <a:schemeClr val="accent5"/>
            </a:solidFill>
            <a:prstDash val="solid"/>
          </a:ln>
        </p:spPr>
      </p:sp>
      <p:pic>
        <p:nvPicPr>
          <p:cNvPr id="15" name="Stat 3 icon" descr="preencoded.png"/>
          <p:cNvPicPr>
            <a:picLocks noChangeAspect="1"/>
          </p:cNvPicPr>
          <p:nvPr/>
        </p:nvPicPr>
        <p:blipFill>
          <a:blip r:embed="rId5"/>
          <a:stretch>
            <a:fillRect/>
          </a:stretch>
        </p:blipFill>
        <p:spPr>
          <a:xfrm>
            <a:off x="6486754" y="1823314"/>
            <a:ext cx="285293" cy="285293"/>
          </a:xfrm>
          <a:prstGeom prst="rect">
            <a:avLst/>
          </a:prstGeom>
        </p:spPr>
      </p:pic>
      <p:sp>
        <p:nvSpPr>
          <p:cNvPr id="16" name="Stat number 3"/>
          <p:cNvSpPr txBox="1"/>
          <p:nvPr/>
        </p:nvSpPr>
        <p:spPr>
          <a:xfrm>
            <a:off x="6355080" y="2377440"/>
            <a:ext cx="2194560" cy="594360"/>
          </a:xfrm>
          <a:prstGeom prst="rect">
            <a:avLst/>
          </a:prstGeom>
          <a:noFill/>
          <a:ln/>
        </p:spPr>
        <p:txBody>
          <a:bodyPr wrap="square" lIns="0" tIns="0" rIns="0" bIns="0" rtlCol="0" anchor="t"/>
          <a:lstStyle/>
          <a:p>
            <a:pPr marL="0" indent="0">
              <a:buNone/>
            </a:pPr>
            <a:r>
              <a:rPr lang="en-US" sz="4000" b="1" dirty="0">
                <a:solidFill>
                  <a:schemeClr val="accent6"/>
                </a:solidFill>
                <a:latin typeface="Cambria" pitchFamily="34" charset="0"/>
                <a:ea typeface="Cambria" pitchFamily="34" charset="-122"/>
                <a:cs typeface="Cambria" pitchFamily="34" charset="-120"/>
              </a:rPr>
              <a:t>39,254</a:t>
            </a:r>
            <a:endParaRPr lang="en-US" sz="4000" dirty="0"/>
          </a:p>
        </p:txBody>
      </p:sp>
      <p:sp>
        <p:nvSpPr>
          <p:cNvPr id="17" name="Stat label 3"/>
          <p:cNvSpPr txBox="1"/>
          <p:nvPr/>
        </p:nvSpPr>
        <p:spPr>
          <a:xfrm>
            <a:off x="6355080" y="3017520"/>
            <a:ext cx="2103120" cy="640080"/>
          </a:xfrm>
          <a:prstGeom prst="rect">
            <a:avLst/>
          </a:prstGeom>
          <a:noFill/>
          <a:ln/>
        </p:spPr>
        <p:txBody>
          <a:bodyPr wrap="square" lIns="0" tIns="0" rIns="0" bIns="0" rtlCol="0" anchor="t"/>
          <a:lstStyle/>
          <a:p>
            <a:pPr marL="0" indent="0">
              <a:buNone/>
            </a:pPr>
            <a:r>
              <a:rPr lang="en-US" sz="1400" dirty="0">
                <a:solidFill>
                  <a:schemeClr val="tx1"/>
                </a:solidFill>
              </a:rPr>
              <a:t>US traffic deaths in 2024</a:t>
            </a:r>
            <a:endParaRPr lang="en-US" sz="1400" dirty="0"/>
          </a:p>
        </p:txBody>
      </p:sp>
      <p:sp>
        <p:nvSpPr>
          <p:cNvPr id="18" name="Takeaway"/>
          <p:cNvSpPr txBox="1"/>
          <p:nvPr/>
        </p:nvSpPr>
        <p:spPr>
          <a:xfrm>
            <a:off x="457200" y="4069080"/>
            <a:ext cx="7589520" cy="457200"/>
          </a:xfrm>
          <a:prstGeom prst="rect">
            <a:avLst/>
          </a:prstGeom>
          <a:noFill/>
          <a:ln/>
        </p:spPr>
        <p:txBody>
          <a:bodyPr wrap="square" lIns="0" tIns="0" rIns="0" bIns="0" rtlCol="0" anchor="t"/>
          <a:lstStyle/>
          <a:p>
            <a:pPr marL="0" indent="0">
              <a:buNone/>
            </a:pPr>
            <a:r>
              <a:rPr lang="en-US" sz="1400" dirty="0">
                <a:solidFill>
                  <a:schemeClr val="tx1"/>
                </a:solidFill>
              </a:rPr>
              <a:t>In one 30-case autopsy series, most drivers who suffered cardiac arrest at the wheel stopped the vehicle without injury. There is often a short window to act.</a:t>
            </a:r>
            <a:endParaRPr lang="en-US" sz="1400" dirty="0"/>
          </a:p>
        </p:txBody>
      </p:sp>
      <p:sp>
        <p:nvSpPr>
          <p:cNvPr id="19" name="Sources"/>
          <p:cNvSpPr txBox="1"/>
          <p:nvPr/>
        </p:nvSpPr>
        <p:spPr>
          <a:xfrm>
            <a:off x="457200" y="4572000"/>
            <a:ext cx="5486400" cy="201168"/>
          </a:xfrm>
          <a:prstGeom prst="rect">
            <a:avLst/>
          </a:prstGeom>
          <a:noFill/>
          <a:ln/>
        </p:spPr>
        <p:txBody>
          <a:bodyPr wrap="square" lIns="0" tIns="0" rIns="0" bIns="0" rtlCol="0" anchor="t"/>
          <a:lstStyle/>
          <a:p>
            <a:pPr marL="0" indent="0">
              <a:buNone/>
            </a:pPr>
            <a:r>
              <a:rPr lang="en-US" sz="1000" dirty="0">
                <a:solidFill>
                  <a:schemeClr val="accent4"/>
                </a:solidFill>
              </a:rPr>
              <a:t>Sources: CDC; NHTSA; Antecol and Roberts (1990)</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From wrist to a safe stop</a:t>
            </a:r>
            <a:endParaRPr lang="en-US" sz="3600" dirty="0"/>
          </a:p>
        </p:txBody>
      </p:sp>
      <p:sp>
        <p:nvSpPr>
          <p:cNvPr id="3" name="Step card 1"/>
          <p:cNvSpPr/>
          <p:nvPr/>
        </p:nvSpPr>
        <p:spPr>
          <a:xfrm>
            <a:off x="457200" y="1508760"/>
            <a:ext cx="1463040" cy="2697480"/>
          </a:xfrm>
          <a:prstGeom prst="roundRect">
            <a:avLst>
              <a:gd name="adj" fmla="val 5000"/>
            </a:avLst>
          </a:prstGeom>
          <a:solidFill>
            <a:schemeClr val="bg2"/>
          </a:solidFill>
          <a:ln w="12700">
            <a:solidFill>
              <a:schemeClr val="bg2"/>
            </a:solidFill>
            <a:prstDash val="solid"/>
          </a:ln>
        </p:spPr>
      </p:sp>
      <p:sp>
        <p:nvSpPr>
          <p:cNvPr id="4" name="Step 1 circle"/>
          <p:cNvSpPr/>
          <p:nvPr/>
        </p:nvSpPr>
        <p:spPr>
          <a:xfrm>
            <a:off x="777240" y="1737360"/>
            <a:ext cx="822960" cy="822960"/>
          </a:xfrm>
          <a:prstGeom prst="ellipse">
            <a:avLst/>
          </a:prstGeom>
          <a:solidFill>
            <a:schemeClr val="accent5"/>
          </a:solidFill>
          <a:ln w="12700">
            <a:solidFill>
              <a:schemeClr val="accent5"/>
            </a:solidFill>
            <a:prstDash val="solid"/>
          </a:ln>
        </p:spPr>
      </p:sp>
      <p:pic>
        <p:nvPicPr>
          <p:cNvPr id="5" name="Step 1 icon" descr="preencoded.png"/>
          <p:cNvPicPr>
            <a:picLocks noChangeAspect="1"/>
          </p:cNvPicPr>
          <p:nvPr/>
        </p:nvPicPr>
        <p:blipFill>
          <a:blip r:embed="rId3"/>
          <a:stretch>
            <a:fillRect/>
          </a:stretch>
        </p:blipFill>
        <p:spPr>
          <a:xfrm>
            <a:off x="974750" y="1934870"/>
            <a:ext cx="427939" cy="427939"/>
          </a:xfrm>
          <a:prstGeom prst="rect">
            <a:avLst/>
          </a:prstGeom>
        </p:spPr>
      </p:pic>
      <p:sp>
        <p:nvSpPr>
          <p:cNvPr id="6" name="Step title 1"/>
          <p:cNvSpPr txBox="1"/>
          <p:nvPr/>
        </p:nvSpPr>
        <p:spPr>
          <a:xfrm>
            <a:off x="594360" y="2743200"/>
            <a:ext cx="1188720" cy="365760"/>
          </a:xfrm>
          <a:prstGeom prst="rect">
            <a:avLst/>
          </a:prstGeom>
          <a:noFill/>
          <a:ln/>
        </p:spPr>
        <p:txBody>
          <a:bodyPr wrap="square" lIns="0" tIns="0" rIns="0" bIns="0" rtlCol="0" anchor="t"/>
          <a:lstStyle/>
          <a:p>
            <a:pPr marL="0" indent="0" algn="l">
              <a:buNone/>
            </a:pPr>
            <a:r>
              <a:rPr lang="en-US" sz="2000" b="1" dirty="0">
                <a:solidFill>
                  <a:schemeClr val="tx2"/>
                </a:solidFill>
                <a:latin typeface="Cambria" pitchFamily="34" charset="0"/>
                <a:ea typeface="Cambria" pitchFamily="34" charset="-122"/>
                <a:cs typeface="Cambria" pitchFamily="34" charset="-120"/>
              </a:rPr>
              <a:t>Sensor</a:t>
            </a:r>
            <a:endParaRPr lang="en-US" sz="2000" dirty="0"/>
          </a:p>
        </p:txBody>
      </p:sp>
      <p:sp>
        <p:nvSpPr>
          <p:cNvPr id="7" name="Step text 1"/>
          <p:cNvSpPr txBox="1"/>
          <p:nvPr/>
        </p:nvSpPr>
        <p:spPr>
          <a:xfrm>
            <a:off x="594360" y="3200400"/>
            <a:ext cx="1234440" cy="914400"/>
          </a:xfrm>
          <a:prstGeom prst="rect">
            <a:avLst/>
          </a:prstGeom>
          <a:noFill/>
          <a:ln/>
        </p:spPr>
        <p:txBody>
          <a:bodyPr wrap="square" lIns="0" tIns="0" rIns="0" bIns="0" rtlCol="0" anchor="t"/>
          <a:lstStyle/>
          <a:p>
            <a:pPr marL="0" indent="0">
              <a:buNone/>
            </a:pPr>
            <a:r>
              <a:rPr lang="en-US" sz="1600" dirty="0">
                <a:solidFill>
                  <a:schemeClr val="tx1"/>
                </a:solidFill>
              </a:rPr>
              <a:t>Reads pulse and beat intervals</a:t>
            </a:r>
            <a:endParaRPr lang="en-US" sz="1600" dirty="0"/>
          </a:p>
        </p:txBody>
      </p:sp>
      <p:sp>
        <p:nvSpPr>
          <p:cNvPr id="8" name="Arrow 1"/>
          <p:cNvSpPr/>
          <p:nvPr/>
        </p:nvSpPr>
        <p:spPr>
          <a:xfrm>
            <a:off x="1947672" y="2697480"/>
            <a:ext cx="173736" cy="256032"/>
          </a:xfrm>
          <a:prstGeom prst="rightArrow">
            <a:avLst/>
          </a:prstGeom>
          <a:solidFill>
            <a:schemeClr val="accent4"/>
          </a:solidFill>
          <a:ln w="12700">
            <a:solidFill>
              <a:schemeClr val="accent4"/>
            </a:solidFill>
            <a:prstDash val="solid"/>
          </a:ln>
        </p:spPr>
      </p:sp>
      <p:sp>
        <p:nvSpPr>
          <p:cNvPr id="9" name="Step card 2"/>
          <p:cNvSpPr/>
          <p:nvPr/>
        </p:nvSpPr>
        <p:spPr>
          <a:xfrm>
            <a:off x="2148840" y="1508760"/>
            <a:ext cx="1463040" cy="2697480"/>
          </a:xfrm>
          <a:prstGeom prst="roundRect">
            <a:avLst>
              <a:gd name="adj" fmla="val 5000"/>
            </a:avLst>
          </a:prstGeom>
          <a:solidFill>
            <a:schemeClr val="bg2"/>
          </a:solidFill>
          <a:ln w="12700">
            <a:solidFill>
              <a:schemeClr val="bg2"/>
            </a:solidFill>
            <a:prstDash val="solid"/>
          </a:ln>
        </p:spPr>
      </p:sp>
      <p:sp>
        <p:nvSpPr>
          <p:cNvPr id="10" name="Step 2 circle"/>
          <p:cNvSpPr/>
          <p:nvPr/>
        </p:nvSpPr>
        <p:spPr>
          <a:xfrm>
            <a:off x="2468880" y="1737360"/>
            <a:ext cx="822960" cy="822960"/>
          </a:xfrm>
          <a:prstGeom prst="ellipse">
            <a:avLst/>
          </a:prstGeom>
          <a:solidFill>
            <a:schemeClr val="accent5"/>
          </a:solidFill>
          <a:ln w="12700">
            <a:solidFill>
              <a:schemeClr val="accent5"/>
            </a:solidFill>
            <a:prstDash val="solid"/>
          </a:ln>
        </p:spPr>
      </p:sp>
      <p:pic>
        <p:nvPicPr>
          <p:cNvPr id="11" name="Step 2 icon" descr="preencoded.png"/>
          <p:cNvPicPr>
            <a:picLocks noChangeAspect="1"/>
          </p:cNvPicPr>
          <p:nvPr/>
        </p:nvPicPr>
        <p:blipFill>
          <a:blip r:embed="rId4"/>
          <a:stretch>
            <a:fillRect/>
          </a:stretch>
        </p:blipFill>
        <p:spPr>
          <a:xfrm>
            <a:off x="2666390" y="1934870"/>
            <a:ext cx="427939" cy="427939"/>
          </a:xfrm>
          <a:prstGeom prst="rect">
            <a:avLst/>
          </a:prstGeom>
        </p:spPr>
      </p:pic>
      <p:sp>
        <p:nvSpPr>
          <p:cNvPr id="12" name="Step title 2"/>
          <p:cNvSpPr txBox="1"/>
          <p:nvPr/>
        </p:nvSpPr>
        <p:spPr>
          <a:xfrm>
            <a:off x="2286000" y="2743200"/>
            <a:ext cx="1188720" cy="365760"/>
          </a:xfrm>
          <a:prstGeom prst="rect">
            <a:avLst/>
          </a:prstGeom>
          <a:noFill/>
          <a:ln/>
        </p:spPr>
        <p:txBody>
          <a:bodyPr wrap="square" lIns="0" tIns="0" rIns="0" bIns="0" rtlCol="0" anchor="t"/>
          <a:lstStyle/>
          <a:p>
            <a:pPr marL="0" indent="0" algn="l">
              <a:buNone/>
            </a:pPr>
            <a:r>
              <a:rPr lang="en-US" sz="2000" b="1" dirty="0">
                <a:solidFill>
                  <a:schemeClr val="tx2"/>
                </a:solidFill>
                <a:latin typeface="Cambria" pitchFamily="34" charset="0"/>
                <a:ea typeface="Cambria" pitchFamily="34" charset="-122"/>
                <a:cs typeface="Cambria" pitchFamily="34" charset="-120"/>
              </a:rPr>
              <a:t>Car app</a:t>
            </a:r>
            <a:endParaRPr lang="en-US" sz="2000" dirty="0"/>
          </a:p>
        </p:txBody>
      </p:sp>
      <p:sp>
        <p:nvSpPr>
          <p:cNvPr id="13" name="Step text 2"/>
          <p:cNvSpPr txBox="1"/>
          <p:nvPr/>
        </p:nvSpPr>
        <p:spPr>
          <a:xfrm>
            <a:off x="2286000" y="3200400"/>
            <a:ext cx="1234440" cy="914400"/>
          </a:xfrm>
          <a:prstGeom prst="rect">
            <a:avLst/>
          </a:prstGeom>
          <a:noFill/>
          <a:ln/>
        </p:spPr>
        <p:txBody>
          <a:bodyPr wrap="square" lIns="0" tIns="0" rIns="0" bIns="0" rtlCol="0" anchor="t"/>
          <a:lstStyle/>
          <a:p>
            <a:pPr marL="0" indent="0">
              <a:buNone/>
            </a:pPr>
            <a:r>
              <a:rPr lang="en-US" sz="1600" dirty="0">
                <a:solidFill>
                  <a:schemeClr val="tx1"/>
                </a:solidFill>
              </a:rPr>
              <a:t>Decodes and checks the data</a:t>
            </a:r>
            <a:endParaRPr lang="en-US" sz="1600" dirty="0"/>
          </a:p>
        </p:txBody>
      </p:sp>
      <p:sp>
        <p:nvSpPr>
          <p:cNvPr id="14" name="Arrow 2"/>
          <p:cNvSpPr/>
          <p:nvPr/>
        </p:nvSpPr>
        <p:spPr>
          <a:xfrm>
            <a:off x="3639312" y="2697480"/>
            <a:ext cx="173736" cy="256032"/>
          </a:xfrm>
          <a:prstGeom prst="rightArrow">
            <a:avLst/>
          </a:prstGeom>
          <a:solidFill>
            <a:schemeClr val="accent4"/>
          </a:solidFill>
          <a:ln w="12700">
            <a:solidFill>
              <a:schemeClr val="accent4"/>
            </a:solidFill>
            <a:prstDash val="solid"/>
          </a:ln>
        </p:spPr>
      </p:sp>
      <p:sp>
        <p:nvSpPr>
          <p:cNvPr id="15" name="Step card 3"/>
          <p:cNvSpPr/>
          <p:nvPr/>
        </p:nvSpPr>
        <p:spPr>
          <a:xfrm>
            <a:off x="3840480" y="1508760"/>
            <a:ext cx="1463040" cy="2697480"/>
          </a:xfrm>
          <a:prstGeom prst="roundRect">
            <a:avLst>
              <a:gd name="adj" fmla="val 5000"/>
            </a:avLst>
          </a:prstGeom>
          <a:solidFill>
            <a:schemeClr val="bg2"/>
          </a:solidFill>
          <a:ln w="12700">
            <a:solidFill>
              <a:schemeClr val="bg2"/>
            </a:solidFill>
            <a:prstDash val="solid"/>
          </a:ln>
        </p:spPr>
      </p:sp>
      <p:sp>
        <p:nvSpPr>
          <p:cNvPr id="16" name="Step 3 circle"/>
          <p:cNvSpPr/>
          <p:nvPr/>
        </p:nvSpPr>
        <p:spPr>
          <a:xfrm>
            <a:off x="4160520" y="1737360"/>
            <a:ext cx="822960" cy="822960"/>
          </a:xfrm>
          <a:prstGeom prst="ellipse">
            <a:avLst/>
          </a:prstGeom>
          <a:solidFill>
            <a:schemeClr val="accent5"/>
          </a:solidFill>
          <a:ln w="12700">
            <a:solidFill>
              <a:schemeClr val="accent5"/>
            </a:solidFill>
            <a:prstDash val="solid"/>
          </a:ln>
        </p:spPr>
      </p:sp>
      <p:pic>
        <p:nvPicPr>
          <p:cNvPr id="17" name="Step 3 icon" descr="preencoded.png"/>
          <p:cNvPicPr>
            <a:picLocks noChangeAspect="1"/>
          </p:cNvPicPr>
          <p:nvPr/>
        </p:nvPicPr>
        <p:blipFill>
          <a:blip r:embed="rId5"/>
          <a:stretch>
            <a:fillRect/>
          </a:stretch>
        </p:blipFill>
        <p:spPr>
          <a:xfrm>
            <a:off x="4358030" y="1934870"/>
            <a:ext cx="427939" cy="427939"/>
          </a:xfrm>
          <a:prstGeom prst="rect">
            <a:avLst/>
          </a:prstGeom>
        </p:spPr>
      </p:pic>
      <p:sp>
        <p:nvSpPr>
          <p:cNvPr id="18" name="Step title 3"/>
          <p:cNvSpPr txBox="1"/>
          <p:nvPr/>
        </p:nvSpPr>
        <p:spPr>
          <a:xfrm>
            <a:off x="3977640" y="2743200"/>
            <a:ext cx="1188720" cy="365760"/>
          </a:xfrm>
          <a:prstGeom prst="rect">
            <a:avLst/>
          </a:prstGeom>
          <a:noFill/>
          <a:ln/>
        </p:spPr>
        <p:txBody>
          <a:bodyPr wrap="square" lIns="0" tIns="0" rIns="0" bIns="0" rtlCol="0" anchor="t"/>
          <a:lstStyle/>
          <a:p>
            <a:pPr marL="0" indent="0" algn="l">
              <a:buNone/>
            </a:pPr>
            <a:r>
              <a:rPr lang="en-US" sz="2000" b="1" dirty="0">
                <a:solidFill>
                  <a:schemeClr val="tx2"/>
                </a:solidFill>
                <a:latin typeface="Cambria" pitchFamily="34" charset="0"/>
                <a:ea typeface="Cambria" pitchFamily="34" charset="-122"/>
                <a:cs typeface="Cambria" pitchFamily="34" charset="-120"/>
              </a:rPr>
              <a:t>AI score</a:t>
            </a:r>
            <a:endParaRPr lang="en-US" sz="2000" dirty="0"/>
          </a:p>
        </p:txBody>
      </p:sp>
      <p:sp>
        <p:nvSpPr>
          <p:cNvPr id="19" name="Step text 3"/>
          <p:cNvSpPr txBox="1"/>
          <p:nvPr/>
        </p:nvSpPr>
        <p:spPr>
          <a:xfrm>
            <a:off x="3977640" y="3200400"/>
            <a:ext cx="1234440" cy="914400"/>
          </a:xfrm>
          <a:prstGeom prst="rect">
            <a:avLst/>
          </a:prstGeom>
          <a:noFill/>
          <a:ln/>
        </p:spPr>
        <p:txBody>
          <a:bodyPr wrap="square" lIns="0" tIns="0" rIns="0" bIns="0" rtlCol="0" anchor="t"/>
          <a:lstStyle/>
          <a:p>
            <a:pPr marL="0" indent="0">
              <a:buNone/>
            </a:pPr>
            <a:r>
              <a:rPr lang="en-US" sz="1600" dirty="0">
                <a:solidFill>
                  <a:schemeClr val="tx1"/>
                </a:solidFill>
              </a:rPr>
              <a:t>Scores distress from 0 to 100</a:t>
            </a:r>
            <a:endParaRPr lang="en-US" sz="1600" dirty="0"/>
          </a:p>
        </p:txBody>
      </p:sp>
      <p:sp>
        <p:nvSpPr>
          <p:cNvPr id="20" name="Arrow 3"/>
          <p:cNvSpPr/>
          <p:nvPr/>
        </p:nvSpPr>
        <p:spPr>
          <a:xfrm>
            <a:off x="5330952" y="2697480"/>
            <a:ext cx="173736" cy="256032"/>
          </a:xfrm>
          <a:prstGeom prst="rightArrow">
            <a:avLst/>
          </a:prstGeom>
          <a:solidFill>
            <a:schemeClr val="accent4"/>
          </a:solidFill>
          <a:ln w="12700">
            <a:solidFill>
              <a:schemeClr val="accent4"/>
            </a:solidFill>
            <a:prstDash val="solid"/>
          </a:ln>
        </p:spPr>
      </p:sp>
      <p:sp>
        <p:nvSpPr>
          <p:cNvPr id="21" name="Step card 4"/>
          <p:cNvSpPr/>
          <p:nvPr/>
        </p:nvSpPr>
        <p:spPr>
          <a:xfrm>
            <a:off x="5532120" y="1508760"/>
            <a:ext cx="1463040" cy="2697480"/>
          </a:xfrm>
          <a:prstGeom prst="roundRect">
            <a:avLst>
              <a:gd name="adj" fmla="val 5000"/>
            </a:avLst>
          </a:prstGeom>
          <a:solidFill>
            <a:schemeClr val="bg2"/>
          </a:solidFill>
          <a:ln w="12700">
            <a:solidFill>
              <a:schemeClr val="bg2"/>
            </a:solidFill>
            <a:prstDash val="solid"/>
          </a:ln>
        </p:spPr>
      </p:sp>
      <p:sp>
        <p:nvSpPr>
          <p:cNvPr id="22" name="Step 4 circle"/>
          <p:cNvSpPr/>
          <p:nvPr/>
        </p:nvSpPr>
        <p:spPr>
          <a:xfrm>
            <a:off x="5852160" y="1737360"/>
            <a:ext cx="822960" cy="822960"/>
          </a:xfrm>
          <a:prstGeom prst="ellipse">
            <a:avLst/>
          </a:prstGeom>
          <a:solidFill>
            <a:schemeClr val="accent1"/>
          </a:solidFill>
          <a:ln w="12700">
            <a:solidFill>
              <a:schemeClr val="accent1"/>
            </a:solidFill>
            <a:prstDash val="solid"/>
          </a:ln>
        </p:spPr>
      </p:sp>
      <p:pic>
        <p:nvPicPr>
          <p:cNvPr id="23" name="Step 4 icon" descr="preencoded.png"/>
          <p:cNvPicPr>
            <a:picLocks noChangeAspect="1"/>
          </p:cNvPicPr>
          <p:nvPr/>
        </p:nvPicPr>
        <p:blipFill>
          <a:blip r:embed="rId6"/>
          <a:stretch>
            <a:fillRect/>
          </a:stretch>
        </p:blipFill>
        <p:spPr>
          <a:xfrm>
            <a:off x="6049670" y="1934870"/>
            <a:ext cx="427939" cy="427939"/>
          </a:xfrm>
          <a:prstGeom prst="rect">
            <a:avLst/>
          </a:prstGeom>
        </p:spPr>
      </p:pic>
      <p:sp>
        <p:nvSpPr>
          <p:cNvPr id="24" name="Step title 4"/>
          <p:cNvSpPr txBox="1"/>
          <p:nvPr/>
        </p:nvSpPr>
        <p:spPr>
          <a:xfrm>
            <a:off x="5669280" y="2743200"/>
            <a:ext cx="1188720" cy="365760"/>
          </a:xfrm>
          <a:prstGeom prst="rect">
            <a:avLst/>
          </a:prstGeom>
          <a:noFill/>
          <a:ln/>
        </p:spPr>
        <p:txBody>
          <a:bodyPr wrap="square" lIns="0" tIns="0" rIns="0" bIns="0" rtlCol="0" anchor="t"/>
          <a:lstStyle/>
          <a:p>
            <a:pPr marL="0" indent="0" algn="l">
              <a:buNone/>
            </a:pPr>
            <a:r>
              <a:rPr lang="en-US" sz="2000" b="1" dirty="0">
                <a:solidFill>
                  <a:schemeClr val="tx2"/>
                </a:solidFill>
                <a:latin typeface="Cambria" pitchFamily="34" charset="0"/>
                <a:ea typeface="Cambria" pitchFamily="34" charset="-122"/>
                <a:cs typeface="Cambria" pitchFamily="34" charset="-120"/>
              </a:rPr>
              <a:t>Agent</a:t>
            </a:r>
            <a:endParaRPr lang="en-US" sz="2000" dirty="0"/>
          </a:p>
        </p:txBody>
      </p:sp>
      <p:sp>
        <p:nvSpPr>
          <p:cNvPr id="25" name="Step text 4"/>
          <p:cNvSpPr txBox="1"/>
          <p:nvPr/>
        </p:nvSpPr>
        <p:spPr>
          <a:xfrm>
            <a:off x="5669280" y="3200400"/>
            <a:ext cx="1234440" cy="914400"/>
          </a:xfrm>
          <a:prstGeom prst="rect">
            <a:avLst/>
          </a:prstGeom>
          <a:noFill/>
          <a:ln/>
        </p:spPr>
        <p:txBody>
          <a:bodyPr wrap="square" lIns="0" tIns="0" rIns="0" bIns="0" rtlCol="0" anchor="t"/>
          <a:lstStyle/>
          <a:p>
            <a:pPr marL="0" indent="0">
              <a:buNone/>
            </a:pPr>
            <a:r>
              <a:rPr lang="en-US" sz="1600" dirty="0">
                <a:solidFill>
                  <a:schemeClr val="tx1"/>
                </a:solidFill>
              </a:rPr>
              <a:t>Acts only if distress persists</a:t>
            </a:r>
            <a:endParaRPr lang="en-US" sz="1600" dirty="0"/>
          </a:p>
        </p:txBody>
      </p:sp>
      <p:sp>
        <p:nvSpPr>
          <p:cNvPr id="26" name="Arrow 4"/>
          <p:cNvSpPr/>
          <p:nvPr/>
        </p:nvSpPr>
        <p:spPr>
          <a:xfrm>
            <a:off x="7022592" y="2697480"/>
            <a:ext cx="173736" cy="256032"/>
          </a:xfrm>
          <a:prstGeom prst="rightArrow">
            <a:avLst/>
          </a:prstGeom>
          <a:solidFill>
            <a:schemeClr val="accent4"/>
          </a:solidFill>
          <a:ln w="12700">
            <a:solidFill>
              <a:schemeClr val="accent4"/>
            </a:solidFill>
            <a:prstDash val="solid"/>
          </a:ln>
        </p:spPr>
      </p:sp>
      <p:sp>
        <p:nvSpPr>
          <p:cNvPr id="27" name="Step card 5"/>
          <p:cNvSpPr/>
          <p:nvPr/>
        </p:nvSpPr>
        <p:spPr>
          <a:xfrm>
            <a:off x="7223760" y="1508760"/>
            <a:ext cx="1463040" cy="2697480"/>
          </a:xfrm>
          <a:prstGeom prst="roundRect">
            <a:avLst>
              <a:gd name="adj" fmla="val 5000"/>
            </a:avLst>
          </a:prstGeom>
          <a:solidFill>
            <a:schemeClr val="bg2"/>
          </a:solidFill>
          <a:ln w="12700">
            <a:solidFill>
              <a:schemeClr val="bg2"/>
            </a:solidFill>
            <a:prstDash val="solid"/>
          </a:ln>
        </p:spPr>
      </p:sp>
      <p:sp>
        <p:nvSpPr>
          <p:cNvPr id="28" name="Step 5 circle"/>
          <p:cNvSpPr/>
          <p:nvPr/>
        </p:nvSpPr>
        <p:spPr>
          <a:xfrm>
            <a:off x="7543800" y="1737360"/>
            <a:ext cx="822960" cy="822960"/>
          </a:xfrm>
          <a:prstGeom prst="ellipse">
            <a:avLst/>
          </a:prstGeom>
          <a:solidFill>
            <a:schemeClr val="accent1"/>
          </a:solidFill>
          <a:ln w="12700">
            <a:solidFill>
              <a:schemeClr val="accent1"/>
            </a:solidFill>
            <a:prstDash val="solid"/>
          </a:ln>
        </p:spPr>
      </p:sp>
      <p:pic>
        <p:nvPicPr>
          <p:cNvPr id="29" name="Step 5 icon" descr="preencoded.png"/>
          <p:cNvPicPr>
            <a:picLocks noChangeAspect="1"/>
          </p:cNvPicPr>
          <p:nvPr/>
        </p:nvPicPr>
        <p:blipFill>
          <a:blip r:embed="rId7"/>
          <a:stretch>
            <a:fillRect/>
          </a:stretch>
        </p:blipFill>
        <p:spPr>
          <a:xfrm>
            <a:off x="7741310" y="1934870"/>
            <a:ext cx="427939" cy="427939"/>
          </a:xfrm>
          <a:prstGeom prst="rect">
            <a:avLst/>
          </a:prstGeom>
        </p:spPr>
      </p:pic>
      <p:sp>
        <p:nvSpPr>
          <p:cNvPr id="30" name="Step title 5"/>
          <p:cNvSpPr txBox="1"/>
          <p:nvPr/>
        </p:nvSpPr>
        <p:spPr>
          <a:xfrm>
            <a:off x="7360920" y="2743200"/>
            <a:ext cx="1188720" cy="365760"/>
          </a:xfrm>
          <a:prstGeom prst="rect">
            <a:avLst/>
          </a:prstGeom>
          <a:noFill/>
          <a:ln/>
        </p:spPr>
        <p:txBody>
          <a:bodyPr wrap="square" lIns="0" tIns="0" rIns="0" bIns="0" rtlCol="0" anchor="t"/>
          <a:lstStyle/>
          <a:p>
            <a:pPr marL="0" indent="0" algn="l">
              <a:buNone/>
            </a:pPr>
            <a:r>
              <a:rPr lang="en-US" sz="2000" b="1" dirty="0">
                <a:solidFill>
                  <a:schemeClr val="tx2"/>
                </a:solidFill>
                <a:latin typeface="Cambria" pitchFamily="34" charset="0"/>
                <a:ea typeface="Cambria" pitchFamily="34" charset="-122"/>
                <a:cs typeface="Cambria" pitchFamily="34" charset="-120"/>
              </a:rPr>
              <a:t>Safe stop</a:t>
            </a:r>
            <a:endParaRPr lang="en-US" sz="2000" dirty="0"/>
          </a:p>
        </p:txBody>
      </p:sp>
      <p:sp>
        <p:nvSpPr>
          <p:cNvPr id="31" name="Step text 5"/>
          <p:cNvSpPr txBox="1"/>
          <p:nvPr/>
        </p:nvSpPr>
        <p:spPr>
          <a:xfrm>
            <a:off x="7360920" y="3200400"/>
            <a:ext cx="1234440" cy="914400"/>
          </a:xfrm>
          <a:prstGeom prst="rect">
            <a:avLst/>
          </a:prstGeom>
          <a:noFill/>
          <a:ln/>
        </p:spPr>
        <p:txBody>
          <a:bodyPr wrap="square" lIns="0" tIns="0" rIns="0" bIns="0" rtlCol="0" anchor="t"/>
          <a:lstStyle/>
          <a:p>
            <a:pPr marL="0" indent="0">
              <a:buNone/>
            </a:pPr>
            <a:r>
              <a:rPr lang="en-US" sz="1600" dirty="0">
                <a:solidFill>
                  <a:schemeClr val="tx1"/>
                </a:solidFill>
              </a:rPr>
              <a:t>Slows, merges right, stops</a:t>
            </a:r>
            <a:endParaRPr lang="en-US" sz="1600" dirty="0"/>
          </a:p>
        </p:txBody>
      </p:sp>
      <p:sp>
        <p:nvSpPr>
          <p:cNvPr id="32" name="Flow note"/>
          <p:cNvSpPr txBox="1"/>
          <p:nvPr/>
        </p:nvSpPr>
        <p:spPr>
          <a:xfrm>
            <a:off x="457200" y="4389120"/>
            <a:ext cx="7498080" cy="274320"/>
          </a:xfrm>
          <a:prstGeom prst="rect">
            <a:avLst/>
          </a:prstGeom>
          <a:noFill/>
          <a:ln/>
        </p:spPr>
        <p:txBody>
          <a:bodyPr wrap="square" lIns="0" tIns="0" rIns="0" bIns="0" rtlCol="0" anchor="t"/>
          <a:lstStyle/>
          <a:p>
            <a:pPr marL="0" indent="0">
              <a:buNone/>
            </a:pPr>
            <a:r>
              <a:rPr lang="en-US" sz="1200" dirty="0">
                <a:solidFill>
                  <a:schemeClr val="accent4"/>
                </a:solidFill>
              </a:rPr>
              <a:t>All vehicle control is simulated. Slate steps sense and process; red steps act.</a:t>
            </a:r>
            <a:endParaRPr lang="en-US" sz="12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Two signals become one distress score</a:t>
            </a:r>
            <a:endParaRPr lang="en-US" sz="3600" dirty="0"/>
          </a:p>
        </p:txBody>
      </p:sp>
      <p:sp>
        <p:nvSpPr>
          <p:cNvPr id="3" name="Heart rate card"/>
          <p:cNvSpPr/>
          <p:nvPr/>
        </p:nvSpPr>
        <p:spPr>
          <a:xfrm>
            <a:off x="457200" y="1554480"/>
            <a:ext cx="3931920" cy="1417320"/>
          </a:xfrm>
          <a:prstGeom prst="roundRect">
            <a:avLst>
              <a:gd name="adj" fmla="val 5161"/>
            </a:avLst>
          </a:prstGeom>
          <a:solidFill>
            <a:schemeClr val="bg2"/>
          </a:solidFill>
          <a:ln w="12700">
            <a:solidFill>
              <a:schemeClr val="bg2"/>
            </a:solidFill>
            <a:prstDash val="solid"/>
          </a:ln>
        </p:spPr>
      </p:sp>
      <p:sp>
        <p:nvSpPr>
          <p:cNvPr id="4" name="BPM title"/>
          <p:cNvSpPr txBox="1"/>
          <p:nvPr/>
        </p:nvSpPr>
        <p:spPr>
          <a:xfrm>
            <a:off x="685800" y="1691640"/>
            <a:ext cx="3566160" cy="320040"/>
          </a:xfrm>
          <a:prstGeom prst="rect">
            <a:avLst/>
          </a:prstGeom>
          <a:noFill/>
          <a:ln/>
        </p:spPr>
        <p:txBody>
          <a:bodyPr wrap="square" lIns="0" tIns="0" rIns="0" bIns="0" rtlCol="0" anchor="t"/>
          <a:lstStyle/>
          <a:p>
            <a:pPr marL="0" indent="0">
              <a:buNone/>
            </a:pPr>
            <a:r>
              <a:rPr lang="en-US" sz="1600" b="1" dirty="0">
                <a:solidFill>
                  <a:schemeClr val="tx2"/>
                </a:solidFill>
              </a:rPr>
              <a:t>Heart rate above baseline</a:t>
            </a:r>
            <a:endParaRPr lang="en-US" sz="1600" dirty="0"/>
          </a:p>
        </p:txBody>
      </p:sp>
      <p:sp>
        <p:nvSpPr>
          <p:cNvPr id="5" name="BPM points"/>
          <p:cNvSpPr txBox="1"/>
          <p:nvPr/>
        </p:nvSpPr>
        <p:spPr>
          <a:xfrm>
            <a:off x="685800" y="2057400"/>
            <a:ext cx="3566160" cy="411480"/>
          </a:xfrm>
          <a:prstGeom prst="rect">
            <a:avLst/>
          </a:prstGeom>
          <a:noFill/>
          <a:ln/>
        </p:spPr>
        <p:txBody>
          <a:bodyPr wrap="square" lIns="0" tIns="0" rIns="0" bIns="0" rtlCol="0" anchor="t"/>
          <a:lstStyle/>
          <a:p>
            <a:pPr marL="0" indent="0">
              <a:buNone/>
            </a:pPr>
            <a:r>
              <a:rPr lang="en-US" sz="2400" b="1" dirty="0">
                <a:solidFill>
                  <a:schemeClr val="accent6"/>
                </a:solidFill>
                <a:latin typeface="Cambria" pitchFamily="34" charset="0"/>
                <a:ea typeface="Cambria" pitchFamily="34" charset="-122"/>
                <a:cs typeface="Cambria" pitchFamily="34" charset="-120"/>
              </a:rPr>
              <a:t>up to 60 points</a:t>
            </a:r>
            <a:endParaRPr lang="en-US" sz="2400" dirty="0"/>
          </a:p>
        </p:txBody>
      </p:sp>
      <p:sp>
        <p:nvSpPr>
          <p:cNvPr id="6" name="BPM detail"/>
          <p:cNvSpPr txBox="1"/>
          <p:nvPr/>
        </p:nvSpPr>
        <p:spPr>
          <a:xfrm>
            <a:off x="685800" y="2542032"/>
            <a:ext cx="3566160" cy="320040"/>
          </a:xfrm>
          <a:prstGeom prst="rect">
            <a:avLst/>
          </a:prstGeom>
          <a:noFill/>
          <a:ln/>
        </p:spPr>
        <p:txBody>
          <a:bodyPr wrap="square" lIns="0" tIns="0" rIns="0" bIns="0" rtlCol="0" anchor="t"/>
          <a:lstStyle/>
          <a:p>
            <a:pPr marL="0" indent="0">
              <a:buNone/>
            </a:pPr>
            <a:r>
              <a:rPr lang="en-US" sz="1400" dirty="0">
                <a:solidFill>
                  <a:schemeClr val="tx1"/>
                </a:solidFill>
              </a:rPr>
              <a:t>Full score at 30 bpm over your resting rate</a:t>
            </a:r>
            <a:endParaRPr lang="en-US" sz="1400" dirty="0"/>
          </a:p>
        </p:txBody>
      </p:sp>
      <p:sp>
        <p:nvSpPr>
          <p:cNvPr id="7" name="HRV card"/>
          <p:cNvSpPr/>
          <p:nvPr/>
        </p:nvSpPr>
        <p:spPr>
          <a:xfrm>
            <a:off x="457200" y="3200400"/>
            <a:ext cx="3931920" cy="1417320"/>
          </a:xfrm>
          <a:prstGeom prst="roundRect">
            <a:avLst>
              <a:gd name="adj" fmla="val 5161"/>
            </a:avLst>
          </a:prstGeom>
          <a:solidFill>
            <a:schemeClr val="bg2"/>
          </a:solidFill>
          <a:ln w="12700">
            <a:solidFill>
              <a:schemeClr val="bg2"/>
            </a:solidFill>
            <a:prstDash val="solid"/>
          </a:ln>
        </p:spPr>
      </p:sp>
      <p:sp>
        <p:nvSpPr>
          <p:cNvPr id="8" name="HRV title"/>
          <p:cNvSpPr txBox="1"/>
          <p:nvPr/>
        </p:nvSpPr>
        <p:spPr>
          <a:xfrm>
            <a:off x="685800" y="3337560"/>
            <a:ext cx="3566160" cy="320040"/>
          </a:xfrm>
          <a:prstGeom prst="rect">
            <a:avLst/>
          </a:prstGeom>
          <a:noFill/>
          <a:ln/>
        </p:spPr>
        <p:txBody>
          <a:bodyPr wrap="square" lIns="0" tIns="0" rIns="0" bIns="0" rtlCol="0" anchor="t"/>
          <a:lstStyle/>
          <a:p>
            <a:pPr marL="0" indent="0">
              <a:buNone/>
            </a:pPr>
            <a:r>
              <a:rPr lang="en-US" sz="1600" b="1" dirty="0">
                <a:solidFill>
                  <a:schemeClr val="tx2"/>
                </a:solidFill>
              </a:rPr>
              <a:t>Low heart-rate variability</a:t>
            </a:r>
            <a:endParaRPr lang="en-US" sz="1600" dirty="0"/>
          </a:p>
        </p:txBody>
      </p:sp>
      <p:sp>
        <p:nvSpPr>
          <p:cNvPr id="9" name="HRV points"/>
          <p:cNvSpPr txBox="1"/>
          <p:nvPr/>
        </p:nvSpPr>
        <p:spPr>
          <a:xfrm>
            <a:off x="685800" y="3703320"/>
            <a:ext cx="3566160" cy="411480"/>
          </a:xfrm>
          <a:prstGeom prst="rect">
            <a:avLst/>
          </a:prstGeom>
          <a:noFill/>
          <a:ln/>
        </p:spPr>
        <p:txBody>
          <a:bodyPr wrap="square" lIns="0" tIns="0" rIns="0" bIns="0" rtlCol="0" anchor="t"/>
          <a:lstStyle/>
          <a:p>
            <a:pPr marL="0" indent="0">
              <a:buNone/>
            </a:pPr>
            <a:r>
              <a:rPr lang="en-US" sz="2400" b="1" dirty="0">
                <a:solidFill>
                  <a:schemeClr val="accent6"/>
                </a:solidFill>
                <a:latin typeface="Cambria" pitchFamily="34" charset="0"/>
                <a:ea typeface="Cambria" pitchFamily="34" charset="-122"/>
                <a:cs typeface="Cambria" pitchFamily="34" charset="-120"/>
              </a:rPr>
              <a:t>up to 40 points</a:t>
            </a:r>
            <a:endParaRPr lang="en-US" sz="2400" dirty="0"/>
          </a:p>
        </p:txBody>
      </p:sp>
      <p:sp>
        <p:nvSpPr>
          <p:cNvPr id="10" name="HRV detail"/>
          <p:cNvSpPr txBox="1"/>
          <p:nvPr/>
        </p:nvSpPr>
        <p:spPr>
          <a:xfrm>
            <a:off x="685800" y="4187952"/>
            <a:ext cx="3566160" cy="320040"/>
          </a:xfrm>
          <a:prstGeom prst="rect">
            <a:avLst/>
          </a:prstGeom>
          <a:noFill/>
          <a:ln/>
        </p:spPr>
        <p:txBody>
          <a:bodyPr wrap="square" lIns="0" tIns="0" rIns="0" bIns="0" rtlCol="0" anchor="t"/>
          <a:lstStyle/>
          <a:p>
            <a:pPr marL="0" indent="0">
              <a:buNone/>
            </a:pPr>
            <a:r>
              <a:rPr lang="en-US" sz="1400" dirty="0">
                <a:solidFill>
                  <a:schemeClr val="tx1"/>
                </a:solidFill>
              </a:rPr>
              <a:t>RMSSD at or below 15 ms scores the full 40</a:t>
            </a:r>
            <a:endParaRPr lang="en-US" sz="1400" dirty="0"/>
          </a:p>
        </p:txBody>
      </p:sp>
      <p:sp>
        <p:nvSpPr>
          <p:cNvPr id="11" name="Scale title"/>
          <p:cNvSpPr txBox="1"/>
          <p:nvPr/>
        </p:nvSpPr>
        <p:spPr>
          <a:xfrm>
            <a:off x="4754880" y="1554480"/>
            <a:ext cx="3931920" cy="320040"/>
          </a:xfrm>
          <a:prstGeom prst="rect">
            <a:avLst/>
          </a:prstGeom>
          <a:noFill/>
          <a:ln/>
        </p:spPr>
        <p:txBody>
          <a:bodyPr wrap="square" lIns="0" tIns="0" rIns="0" bIns="0" rtlCol="0" anchor="t"/>
          <a:lstStyle/>
          <a:p>
            <a:pPr marL="0" indent="0">
              <a:buNone/>
            </a:pPr>
            <a:r>
              <a:rPr lang="en-US" sz="1600" b="1" dirty="0">
                <a:solidFill>
                  <a:schemeClr val="tx2"/>
                </a:solidFill>
              </a:rPr>
              <a:t>Distress score, 0 to 100</a:t>
            </a:r>
            <a:endParaRPr lang="en-US" sz="1600" dirty="0"/>
          </a:p>
        </p:txBody>
      </p:sp>
      <p:sp>
        <p:nvSpPr>
          <p:cNvPr id="12" name="Scale normal"/>
          <p:cNvSpPr/>
          <p:nvPr/>
        </p:nvSpPr>
        <p:spPr>
          <a:xfrm>
            <a:off x="4754880" y="2331720"/>
            <a:ext cx="2359152" cy="548640"/>
          </a:xfrm>
          <a:prstGeom prst="rect">
            <a:avLst/>
          </a:prstGeom>
          <a:solidFill>
            <a:schemeClr val="accent2"/>
          </a:solidFill>
          <a:ln w="12700">
            <a:solidFill>
              <a:schemeClr val="accent2"/>
            </a:solidFill>
            <a:prstDash val="solid"/>
          </a:ln>
        </p:spPr>
      </p:sp>
      <p:sp>
        <p:nvSpPr>
          <p:cNvPr id="13" name="Scale distress"/>
          <p:cNvSpPr/>
          <p:nvPr/>
        </p:nvSpPr>
        <p:spPr>
          <a:xfrm>
            <a:off x="7114032" y="2331720"/>
            <a:ext cx="786384" cy="548640"/>
          </a:xfrm>
          <a:prstGeom prst="rect">
            <a:avLst/>
          </a:prstGeom>
          <a:solidFill>
            <a:schemeClr val="accent3"/>
          </a:solidFill>
          <a:ln w="12700">
            <a:solidFill>
              <a:schemeClr val="accent3"/>
            </a:solidFill>
            <a:prstDash val="solid"/>
          </a:ln>
        </p:spPr>
      </p:sp>
      <p:sp>
        <p:nvSpPr>
          <p:cNvPr id="14" name="Scale severe"/>
          <p:cNvSpPr/>
          <p:nvPr/>
        </p:nvSpPr>
        <p:spPr>
          <a:xfrm>
            <a:off x="7900416" y="2331720"/>
            <a:ext cx="786384" cy="548640"/>
          </a:xfrm>
          <a:prstGeom prst="rect">
            <a:avLst/>
          </a:prstGeom>
          <a:solidFill>
            <a:schemeClr val="accent6"/>
          </a:solidFill>
          <a:ln w="12700">
            <a:solidFill>
              <a:schemeClr val="accent6"/>
            </a:solidFill>
            <a:prstDash val="solid"/>
          </a:ln>
        </p:spPr>
      </p:sp>
      <p:sp>
        <p:nvSpPr>
          <p:cNvPr id="15" name="Normal label"/>
          <p:cNvSpPr txBox="1"/>
          <p:nvPr/>
        </p:nvSpPr>
        <p:spPr>
          <a:xfrm>
            <a:off x="4754880" y="2468880"/>
            <a:ext cx="2359152" cy="274320"/>
          </a:xfrm>
          <a:prstGeom prst="rect">
            <a:avLst/>
          </a:prstGeom>
          <a:noFill/>
          <a:ln/>
        </p:spPr>
        <p:txBody>
          <a:bodyPr wrap="square" lIns="0" tIns="0" rIns="0" bIns="0" rtlCol="0" anchor="t"/>
          <a:lstStyle/>
          <a:p>
            <a:pPr marL="0" indent="0" algn="ctr">
              <a:buNone/>
            </a:pPr>
            <a:r>
              <a:rPr lang="en-US" sz="1400" b="1" dirty="0">
                <a:solidFill>
                  <a:schemeClr val="tx1"/>
                </a:solidFill>
              </a:rPr>
              <a:t>Normal</a:t>
            </a:r>
            <a:endParaRPr lang="en-US" sz="1400" dirty="0"/>
          </a:p>
        </p:txBody>
      </p:sp>
      <p:sp>
        <p:nvSpPr>
          <p:cNvPr id="16" name="Distress label"/>
          <p:cNvSpPr txBox="1"/>
          <p:nvPr/>
        </p:nvSpPr>
        <p:spPr>
          <a:xfrm>
            <a:off x="7114032" y="2468880"/>
            <a:ext cx="786384" cy="274320"/>
          </a:xfrm>
          <a:prstGeom prst="rect">
            <a:avLst/>
          </a:prstGeom>
          <a:noFill/>
          <a:ln/>
        </p:spPr>
        <p:txBody>
          <a:bodyPr wrap="square" lIns="0" tIns="0" rIns="0" bIns="0" rtlCol="0" anchor="t"/>
          <a:lstStyle/>
          <a:p>
            <a:pPr marL="0" indent="0" algn="ctr">
              <a:buNone/>
            </a:pPr>
            <a:r>
              <a:rPr lang="en-US" sz="1200" b="1" dirty="0">
                <a:solidFill>
                  <a:schemeClr val="tx1"/>
                </a:solidFill>
              </a:rPr>
              <a:t>Distress</a:t>
            </a:r>
            <a:endParaRPr lang="en-US" sz="1200" dirty="0"/>
          </a:p>
        </p:txBody>
      </p:sp>
      <p:sp>
        <p:nvSpPr>
          <p:cNvPr id="17" name="Severe label"/>
          <p:cNvSpPr txBox="1"/>
          <p:nvPr/>
        </p:nvSpPr>
        <p:spPr>
          <a:xfrm>
            <a:off x="7900416" y="2468880"/>
            <a:ext cx="786384" cy="274320"/>
          </a:xfrm>
          <a:prstGeom prst="rect">
            <a:avLst/>
          </a:prstGeom>
          <a:noFill/>
          <a:ln/>
        </p:spPr>
        <p:txBody>
          <a:bodyPr wrap="square" lIns="0" tIns="0" rIns="0" bIns="0" rtlCol="0" anchor="t"/>
          <a:lstStyle/>
          <a:p>
            <a:pPr marL="0" indent="0" algn="ctr">
              <a:buNone/>
            </a:pPr>
            <a:r>
              <a:rPr lang="en-US" sz="1200" b="1" dirty="0">
                <a:solidFill>
                  <a:schemeClr val="bg1"/>
                </a:solidFill>
              </a:rPr>
              <a:t>Severe</a:t>
            </a:r>
            <a:endParaRPr lang="en-US" sz="1200" dirty="0"/>
          </a:p>
        </p:txBody>
      </p:sp>
      <p:sp>
        <p:nvSpPr>
          <p:cNvPr id="18" name="Tick 0"/>
          <p:cNvSpPr txBox="1"/>
          <p:nvPr/>
        </p:nvSpPr>
        <p:spPr>
          <a:xfrm>
            <a:off x="4663440" y="2971800"/>
            <a:ext cx="365760" cy="228600"/>
          </a:xfrm>
          <a:prstGeom prst="rect">
            <a:avLst/>
          </a:prstGeom>
          <a:noFill/>
          <a:ln/>
        </p:spPr>
        <p:txBody>
          <a:bodyPr wrap="square" lIns="0" tIns="0" rIns="0" bIns="0" rtlCol="0" anchor="t"/>
          <a:lstStyle/>
          <a:p>
            <a:pPr marL="0" indent="0">
              <a:buNone/>
            </a:pPr>
            <a:r>
              <a:rPr lang="en-US" sz="1200" dirty="0">
                <a:solidFill>
                  <a:schemeClr val="accent4"/>
                </a:solidFill>
              </a:rPr>
              <a:t>0</a:t>
            </a:r>
            <a:endParaRPr lang="en-US" sz="1200" dirty="0"/>
          </a:p>
        </p:txBody>
      </p:sp>
      <p:sp>
        <p:nvSpPr>
          <p:cNvPr id="19" name="Tick 60"/>
          <p:cNvSpPr txBox="1"/>
          <p:nvPr/>
        </p:nvSpPr>
        <p:spPr>
          <a:xfrm>
            <a:off x="6839712" y="2971800"/>
            <a:ext cx="548640" cy="228600"/>
          </a:xfrm>
          <a:prstGeom prst="rect">
            <a:avLst/>
          </a:prstGeom>
          <a:noFill/>
          <a:ln/>
        </p:spPr>
        <p:txBody>
          <a:bodyPr wrap="square" lIns="0" tIns="0" rIns="0" bIns="0" rtlCol="0" anchor="t"/>
          <a:lstStyle/>
          <a:p>
            <a:pPr marL="0" indent="0" algn="ctr">
              <a:buNone/>
            </a:pPr>
            <a:r>
              <a:rPr lang="en-US" sz="1200" b="1" dirty="0">
                <a:solidFill>
                  <a:schemeClr val="tx1"/>
                </a:solidFill>
              </a:rPr>
              <a:t>60</a:t>
            </a:r>
            <a:endParaRPr lang="en-US" sz="1200" dirty="0"/>
          </a:p>
        </p:txBody>
      </p:sp>
      <p:sp>
        <p:nvSpPr>
          <p:cNvPr id="20" name="Tick 80"/>
          <p:cNvSpPr txBox="1"/>
          <p:nvPr/>
        </p:nvSpPr>
        <p:spPr>
          <a:xfrm>
            <a:off x="7626096" y="2971800"/>
            <a:ext cx="548640" cy="228600"/>
          </a:xfrm>
          <a:prstGeom prst="rect">
            <a:avLst/>
          </a:prstGeom>
          <a:noFill/>
          <a:ln/>
        </p:spPr>
        <p:txBody>
          <a:bodyPr wrap="square" lIns="0" tIns="0" rIns="0" bIns="0" rtlCol="0" anchor="t"/>
          <a:lstStyle/>
          <a:p>
            <a:pPr marL="0" indent="0" algn="ctr">
              <a:buNone/>
            </a:pPr>
            <a:r>
              <a:rPr lang="en-US" sz="1200" b="1" dirty="0">
                <a:solidFill>
                  <a:schemeClr val="tx1"/>
                </a:solidFill>
              </a:rPr>
              <a:t>80</a:t>
            </a:r>
            <a:endParaRPr lang="en-US" sz="1200" dirty="0"/>
          </a:p>
        </p:txBody>
      </p:sp>
      <p:sp>
        <p:nvSpPr>
          <p:cNvPr id="21" name="Tick 100"/>
          <p:cNvSpPr txBox="1"/>
          <p:nvPr/>
        </p:nvSpPr>
        <p:spPr>
          <a:xfrm>
            <a:off x="8229600" y="2971800"/>
            <a:ext cx="548640" cy="228600"/>
          </a:xfrm>
          <a:prstGeom prst="rect">
            <a:avLst/>
          </a:prstGeom>
          <a:noFill/>
          <a:ln/>
        </p:spPr>
        <p:txBody>
          <a:bodyPr wrap="square" lIns="0" tIns="0" rIns="0" bIns="0" rtlCol="0" anchor="t"/>
          <a:lstStyle/>
          <a:p>
            <a:pPr marL="0" indent="0" algn="r">
              <a:buNone/>
            </a:pPr>
            <a:r>
              <a:rPr lang="en-US" sz="1200" dirty="0">
                <a:solidFill>
                  <a:schemeClr val="accent4"/>
                </a:solidFill>
              </a:rPr>
              <a:t>100</a:t>
            </a:r>
            <a:endParaRPr lang="en-US" sz="1200" dirty="0"/>
          </a:p>
        </p:txBody>
      </p:sp>
      <p:sp>
        <p:nvSpPr>
          <p:cNvPr id="22" name="Score rules"/>
          <p:cNvSpPr txBox="1"/>
          <p:nvPr/>
        </p:nvSpPr>
        <p:spPr>
          <a:xfrm>
            <a:off x="4754880" y="3337560"/>
            <a:ext cx="3931920" cy="1005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60 or more starts the timers</a:t>
            </a:r>
            <a:endParaRPr lang="en-US" sz="1400" dirty="0"/>
          </a:p>
          <a:p>
            <a:pPr marL="342900" indent="-342900">
              <a:spcAft>
                <a:spcPts val="600"/>
              </a:spcAft>
              <a:buSzPct val="100000"/>
              <a:buChar char="•"/>
            </a:pPr>
            <a:r>
              <a:rPr lang="en-US" sz="1400" dirty="0">
                <a:solidFill>
                  <a:schemeClr val="tx1"/>
                </a:solidFill>
              </a:rPr>
              <a:t>80 or more for 20 s escalates</a:t>
            </a:r>
            <a:endParaRPr lang="en-US" sz="1400" dirty="0"/>
          </a:p>
          <a:p>
            <a:pPr marL="342900" indent="-342900">
              <a:spcAft>
                <a:spcPts val="600"/>
              </a:spcAft>
              <a:buSzPct val="100000"/>
              <a:buChar char="•"/>
            </a:pPr>
            <a:r>
              <a:rPr lang="en-US" sz="1400" dirty="0">
                <a:solidFill>
                  <a:schemeClr val="tx1"/>
                </a:solidFill>
              </a:rPr>
              <a:t>Baseline learned in the first 15 s</a:t>
            </a:r>
            <a:endParaRPr lang="en-US" sz="1400" dirty="0"/>
          </a:p>
        </p:txBody>
      </p:sp>
      <p:sp>
        <p:nvSpPr>
          <p:cNvPr id="23" name="Score caveat"/>
          <p:cNvSpPr txBox="1"/>
          <p:nvPr/>
        </p:nvSpPr>
        <p:spPr>
          <a:xfrm>
            <a:off x="4754880" y="4389120"/>
            <a:ext cx="3291840" cy="228600"/>
          </a:xfrm>
          <a:prstGeom prst="rect">
            <a:avLst/>
          </a:prstGeom>
          <a:noFill/>
          <a:ln/>
        </p:spPr>
        <p:txBody>
          <a:bodyPr wrap="square" lIns="0" tIns="0" rIns="0" bIns="0" rtlCol="0" anchor="t"/>
          <a:lstStyle/>
          <a:p>
            <a:pPr marL="0" indent="0">
              <a:buNone/>
            </a:pPr>
            <a:r>
              <a:rPr lang="en-US" sz="1000" dirty="0">
                <a:solidFill>
                  <a:schemeClr val="accent4"/>
                </a:solidFill>
              </a:rPr>
              <a:t>Starting defaults, not clinical thresholds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The agent escalates one step at a time</a:t>
            </a:r>
            <a:endParaRPr lang="en-US" sz="3600" dirty="0"/>
          </a:p>
        </p:txBody>
      </p:sp>
      <p:sp>
        <p:nvSpPr>
          <p:cNvPr id="3" name="Ladder header Normal"/>
          <p:cNvSpPr/>
          <p:nvPr/>
        </p:nvSpPr>
        <p:spPr>
          <a:xfrm>
            <a:off x="457200" y="1554480"/>
            <a:ext cx="1920240" cy="548640"/>
          </a:xfrm>
          <a:prstGeom prst="rect">
            <a:avLst/>
          </a:prstGeom>
          <a:solidFill>
            <a:schemeClr val="accent2"/>
          </a:solidFill>
          <a:ln w="12700">
            <a:solidFill>
              <a:schemeClr val="accent2"/>
            </a:solidFill>
            <a:prstDash val="solid"/>
          </a:ln>
        </p:spPr>
      </p:sp>
      <p:sp>
        <p:nvSpPr>
          <p:cNvPr id="4" name="Ladder name Normal"/>
          <p:cNvSpPr txBox="1"/>
          <p:nvPr/>
        </p:nvSpPr>
        <p:spPr>
          <a:xfrm>
            <a:off x="457200" y="1554480"/>
            <a:ext cx="19202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Normal</a:t>
            </a:r>
            <a:endParaRPr lang="en-US" sz="2000" dirty="0"/>
          </a:p>
        </p:txBody>
      </p:sp>
      <p:sp>
        <p:nvSpPr>
          <p:cNvPr id="5" name="Ladder body Normal"/>
          <p:cNvSpPr/>
          <p:nvPr/>
        </p:nvSpPr>
        <p:spPr>
          <a:xfrm>
            <a:off x="457200" y="2103120"/>
            <a:ext cx="1920240" cy="2240280"/>
          </a:xfrm>
          <a:prstGeom prst="rect">
            <a:avLst/>
          </a:prstGeom>
          <a:solidFill>
            <a:schemeClr val="bg2"/>
          </a:solidFill>
          <a:ln w="12700">
            <a:solidFill>
              <a:schemeClr val="bg2"/>
            </a:solidFill>
            <a:prstDash val="solid"/>
          </a:ln>
        </p:spPr>
      </p:sp>
      <p:sp>
        <p:nvSpPr>
          <p:cNvPr id="6" name="Ladder label Normal SCORE"/>
          <p:cNvSpPr txBox="1"/>
          <p:nvPr/>
        </p:nvSpPr>
        <p:spPr>
          <a:xfrm>
            <a:off x="640080" y="2212848"/>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SCORE</a:t>
            </a:r>
            <a:endParaRPr lang="en-US" sz="1100" dirty="0"/>
          </a:p>
        </p:txBody>
      </p:sp>
      <p:sp>
        <p:nvSpPr>
          <p:cNvPr id="7" name="Ladder value Normal SCORE"/>
          <p:cNvSpPr txBox="1"/>
          <p:nvPr/>
        </p:nvSpPr>
        <p:spPr>
          <a:xfrm>
            <a:off x="640080" y="2432304"/>
            <a:ext cx="1600200" cy="411480"/>
          </a:xfrm>
          <a:prstGeom prst="rect">
            <a:avLst/>
          </a:prstGeom>
          <a:noFill/>
          <a:ln/>
        </p:spPr>
        <p:txBody>
          <a:bodyPr wrap="square" lIns="0" tIns="0" rIns="0" bIns="0" rtlCol="0" anchor="t"/>
          <a:lstStyle/>
          <a:p>
            <a:pPr marL="0" indent="0">
              <a:buNone/>
            </a:pPr>
            <a:r>
              <a:rPr lang="en-US" sz="1400" b="1" dirty="0">
                <a:solidFill>
                  <a:schemeClr val="tx1"/>
                </a:solidFill>
              </a:rPr>
              <a:t>Under 60</a:t>
            </a:r>
            <a:endParaRPr lang="en-US" sz="1400" dirty="0"/>
          </a:p>
        </p:txBody>
      </p:sp>
      <p:sp>
        <p:nvSpPr>
          <p:cNvPr id="8" name="Ladder label Normal CAR"/>
          <p:cNvSpPr txBox="1"/>
          <p:nvPr/>
        </p:nvSpPr>
        <p:spPr>
          <a:xfrm>
            <a:off x="640080" y="2926080"/>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CAR</a:t>
            </a:r>
            <a:endParaRPr lang="en-US" sz="1100" dirty="0"/>
          </a:p>
        </p:txBody>
      </p:sp>
      <p:sp>
        <p:nvSpPr>
          <p:cNvPr id="9" name="Ladder value Normal CAR"/>
          <p:cNvSpPr txBox="1"/>
          <p:nvPr/>
        </p:nvSpPr>
        <p:spPr>
          <a:xfrm>
            <a:off x="640080" y="3145536"/>
            <a:ext cx="1600200" cy="411480"/>
          </a:xfrm>
          <a:prstGeom prst="rect">
            <a:avLst/>
          </a:prstGeom>
          <a:noFill/>
          <a:ln/>
        </p:spPr>
        <p:txBody>
          <a:bodyPr wrap="square" lIns="0" tIns="0" rIns="0" bIns="0" rtlCol="0" anchor="t"/>
          <a:lstStyle/>
          <a:p>
            <a:pPr marL="0" indent="0">
              <a:buNone/>
            </a:pPr>
            <a:r>
              <a:rPr lang="en-US" sz="1400" b="1" dirty="0">
                <a:solidFill>
                  <a:schemeClr val="tx1"/>
                </a:solidFill>
              </a:rPr>
              <a:t>Lane 1, 70 mph</a:t>
            </a:r>
            <a:endParaRPr lang="en-US" sz="1400" dirty="0"/>
          </a:p>
        </p:txBody>
      </p:sp>
      <p:sp>
        <p:nvSpPr>
          <p:cNvPr id="10" name="Ladder label Normal SCREEN"/>
          <p:cNvSpPr txBox="1"/>
          <p:nvPr/>
        </p:nvSpPr>
        <p:spPr>
          <a:xfrm>
            <a:off x="640080" y="3639312"/>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SCREEN</a:t>
            </a:r>
            <a:endParaRPr lang="en-US" sz="1100" dirty="0"/>
          </a:p>
        </p:txBody>
      </p:sp>
      <p:sp>
        <p:nvSpPr>
          <p:cNvPr id="11" name="Ladder value Normal SCREEN"/>
          <p:cNvSpPr txBox="1"/>
          <p:nvPr/>
        </p:nvSpPr>
        <p:spPr>
          <a:xfrm>
            <a:off x="640080" y="3858768"/>
            <a:ext cx="1600200" cy="411480"/>
          </a:xfrm>
          <a:prstGeom prst="rect">
            <a:avLst/>
          </a:prstGeom>
          <a:noFill/>
          <a:ln/>
        </p:spPr>
        <p:txBody>
          <a:bodyPr wrap="square" lIns="0" tIns="0" rIns="0" bIns="0" rtlCol="0" anchor="t"/>
          <a:lstStyle/>
          <a:p>
            <a:pPr marL="0" indent="0">
              <a:buNone/>
            </a:pPr>
            <a:r>
              <a:rPr lang="en-US" sz="1400" b="1" dirty="0">
                <a:solidFill>
                  <a:schemeClr val="tx1"/>
                </a:solidFill>
              </a:rPr>
              <a:t>Green gauge</a:t>
            </a:r>
            <a:endParaRPr lang="en-US" sz="1400" dirty="0"/>
          </a:p>
        </p:txBody>
      </p:sp>
      <p:sp>
        <p:nvSpPr>
          <p:cNvPr id="12" name="Ladder header Watch"/>
          <p:cNvSpPr/>
          <p:nvPr/>
        </p:nvSpPr>
        <p:spPr>
          <a:xfrm>
            <a:off x="2560320" y="1554480"/>
            <a:ext cx="1920240" cy="548640"/>
          </a:xfrm>
          <a:prstGeom prst="rect">
            <a:avLst/>
          </a:prstGeom>
          <a:solidFill>
            <a:schemeClr val="accent3"/>
          </a:solidFill>
          <a:ln w="12700">
            <a:solidFill>
              <a:schemeClr val="accent3"/>
            </a:solidFill>
            <a:prstDash val="solid"/>
          </a:ln>
        </p:spPr>
      </p:sp>
      <p:sp>
        <p:nvSpPr>
          <p:cNvPr id="13" name="Ladder name Watch"/>
          <p:cNvSpPr txBox="1"/>
          <p:nvPr/>
        </p:nvSpPr>
        <p:spPr>
          <a:xfrm>
            <a:off x="2560320" y="1554480"/>
            <a:ext cx="1920240" cy="548640"/>
          </a:xfrm>
          <a:prstGeom prst="rect">
            <a:avLst/>
          </a:prstGeom>
          <a:noFill/>
          <a:ln/>
        </p:spPr>
        <p:txBody>
          <a:bodyPr wrap="square" lIns="0" tIns="0" rIns="0" bIns="0" rtlCol="0" anchor="ctr"/>
          <a:lstStyle/>
          <a:p>
            <a:pPr marL="0" indent="0" algn="ctr">
              <a:buNone/>
            </a:pPr>
            <a:r>
              <a:rPr lang="en-US" sz="2000" b="1" dirty="0">
                <a:solidFill>
                  <a:schemeClr val="tx1"/>
                </a:solidFill>
                <a:latin typeface="Cambria" pitchFamily="34" charset="0"/>
                <a:ea typeface="Cambria" pitchFamily="34" charset="-122"/>
                <a:cs typeface="Cambria" pitchFamily="34" charset="-120"/>
              </a:rPr>
              <a:t>Watch</a:t>
            </a:r>
            <a:endParaRPr lang="en-US" sz="2000" dirty="0"/>
          </a:p>
        </p:txBody>
      </p:sp>
      <p:sp>
        <p:nvSpPr>
          <p:cNvPr id="14" name="Ladder body Watch"/>
          <p:cNvSpPr/>
          <p:nvPr/>
        </p:nvSpPr>
        <p:spPr>
          <a:xfrm>
            <a:off x="2560320" y="2103120"/>
            <a:ext cx="1920240" cy="2240280"/>
          </a:xfrm>
          <a:prstGeom prst="rect">
            <a:avLst/>
          </a:prstGeom>
          <a:solidFill>
            <a:schemeClr val="bg2"/>
          </a:solidFill>
          <a:ln w="12700">
            <a:solidFill>
              <a:schemeClr val="bg2"/>
            </a:solidFill>
            <a:prstDash val="solid"/>
          </a:ln>
        </p:spPr>
      </p:sp>
      <p:sp>
        <p:nvSpPr>
          <p:cNvPr id="15" name="Ladder label Watch SCORE"/>
          <p:cNvSpPr txBox="1"/>
          <p:nvPr/>
        </p:nvSpPr>
        <p:spPr>
          <a:xfrm>
            <a:off x="2743200" y="2212848"/>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SCORE</a:t>
            </a:r>
            <a:endParaRPr lang="en-US" sz="1100" dirty="0"/>
          </a:p>
        </p:txBody>
      </p:sp>
      <p:sp>
        <p:nvSpPr>
          <p:cNvPr id="16" name="Ladder value Watch SCORE"/>
          <p:cNvSpPr txBox="1"/>
          <p:nvPr/>
        </p:nvSpPr>
        <p:spPr>
          <a:xfrm>
            <a:off x="2743200" y="2432304"/>
            <a:ext cx="1600200" cy="411480"/>
          </a:xfrm>
          <a:prstGeom prst="rect">
            <a:avLst/>
          </a:prstGeom>
          <a:noFill/>
          <a:ln/>
        </p:spPr>
        <p:txBody>
          <a:bodyPr wrap="square" lIns="0" tIns="0" rIns="0" bIns="0" rtlCol="0" anchor="t"/>
          <a:lstStyle/>
          <a:p>
            <a:pPr marL="0" indent="0">
              <a:buNone/>
            </a:pPr>
            <a:r>
              <a:rPr lang="en-US" sz="1400" b="1" dirty="0">
                <a:solidFill>
                  <a:schemeClr val="tx1"/>
                </a:solidFill>
              </a:rPr>
              <a:t>Over 60, under 5 s</a:t>
            </a:r>
            <a:endParaRPr lang="en-US" sz="1400" dirty="0"/>
          </a:p>
        </p:txBody>
      </p:sp>
      <p:sp>
        <p:nvSpPr>
          <p:cNvPr id="17" name="Ladder label Watch CAR"/>
          <p:cNvSpPr txBox="1"/>
          <p:nvPr/>
        </p:nvSpPr>
        <p:spPr>
          <a:xfrm>
            <a:off x="2743200" y="2926080"/>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CAR</a:t>
            </a:r>
            <a:endParaRPr lang="en-US" sz="1100" dirty="0"/>
          </a:p>
        </p:txBody>
      </p:sp>
      <p:sp>
        <p:nvSpPr>
          <p:cNvPr id="18" name="Ladder value Watch CAR"/>
          <p:cNvSpPr txBox="1"/>
          <p:nvPr/>
        </p:nvSpPr>
        <p:spPr>
          <a:xfrm>
            <a:off x="2743200" y="3145536"/>
            <a:ext cx="1600200" cy="411480"/>
          </a:xfrm>
          <a:prstGeom prst="rect">
            <a:avLst/>
          </a:prstGeom>
          <a:noFill/>
          <a:ln/>
        </p:spPr>
        <p:txBody>
          <a:bodyPr wrap="square" lIns="0" tIns="0" rIns="0" bIns="0" rtlCol="0" anchor="t"/>
          <a:lstStyle/>
          <a:p>
            <a:pPr marL="0" indent="0">
              <a:buNone/>
            </a:pPr>
            <a:r>
              <a:rPr lang="en-US" sz="1400" b="1" dirty="0">
                <a:solidFill>
                  <a:schemeClr val="tx1"/>
                </a:solidFill>
              </a:rPr>
              <a:t>No change</a:t>
            </a:r>
            <a:endParaRPr lang="en-US" sz="1400" dirty="0"/>
          </a:p>
        </p:txBody>
      </p:sp>
      <p:sp>
        <p:nvSpPr>
          <p:cNvPr id="19" name="Ladder label Watch SCREEN"/>
          <p:cNvSpPr txBox="1"/>
          <p:nvPr/>
        </p:nvSpPr>
        <p:spPr>
          <a:xfrm>
            <a:off x="2743200" y="3639312"/>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SCREEN</a:t>
            </a:r>
            <a:endParaRPr lang="en-US" sz="1100" dirty="0"/>
          </a:p>
        </p:txBody>
      </p:sp>
      <p:sp>
        <p:nvSpPr>
          <p:cNvPr id="20" name="Ladder value Watch SCREEN"/>
          <p:cNvSpPr txBox="1"/>
          <p:nvPr/>
        </p:nvSpPr>
        <p:spPr>
          <a:xfrm>
            <a:off x="2743200" y="3858768"/>
            <a:ext cx="1600200" cy="411480"/>
          </a:xfrm>
          <a:prstGeom prst="rect">
            <a:avLst/>
          </a:prstGeom>
          <a:noFill/>
          <a:ln/>
        </p:spPr>
        <p:txBody>
          <a:bodyPr wrap="square" lIns="0" tIns="0" rIns="0" bIns="0" rtlCol="0" anchor="t"/>
          <a:lstStyle/>
          <a:p>
            <a:pPr marL="0" indent="0">
              <a:buNone/>
            </a:pPr>
            <a:r>
              <a:rPr lang="en-US" sz="1400" b="1" dirty="0">
                <a:solidFill>
                  <a:schemeClr val="tx1"/>
                </a:solidFill>
              </a:rPr>
              <a:t>Amber badge</a:t>
            </a:r>
            <a:endParaRPr lang="en-US" sz="1400" dirty="0"/>
          </a:p>
        </p:txBody>
      </p:sp>
      <p:sp>
        <p:nvSpPr>
          <p:cNvPr id="21" name="Ladder header Intervene"/>
          <p:cNvSpPr/>
          <p:nvPr/>
        </p:nvSpPr>
        <p:spPr>
          <a:xfrm>
            <a:off x="4663440" y="1554480"/>
            <a:ext cx="1920240" cy="548640"/>
          </a:xfrm>
          <a:prstGeom prst="rect">
            <a:avLst/>
          </a:prstGeom>
          <a:solidFill>
            <a:schemeClr val="accent1"/>
          </a:solidFill>
          <a:ln w="12700">
            <a:solidFill>
              <a:schemeClr val="accent1"/>
            </a:solidFill>
            <a:prstDash val="solid"/>
          </a:ln>
        </p:spPr>
      </p:sp>
      <p:sp>
        <p:nvSpPr>
          <p:cNvPr id="22" name="Ladder name Intervene"/>
          <p:cNvSpPr txBox="1"/>
          <p:nvPr/>
        </p:nvSpPr>
        <p:spPr>
          <a:xfrm>
            <a:off x="4663440" y="1554480"/>
            <a:ext cx="19202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Intervene</a:t>
            </a:r>
            <a:endParaRPr lang="en-US" sz="2000" dirty="0"/>
          </a:p>
        </p:txBody>
      </p:sp>
      <p:sp>
        <p:nvSpPr>
          <p:cNvPr id="23" name="Ladder body Intervene"/>
          <p:cNvSpPr/>
          <p:nvPr/>
        </p:nvSpPr>
        <p:spPr>
          <a:xfrm>
            <a:off x="4663440" y="2103120"/>
            <a:ext cx="1920240" cy="2240280"/>
          </a:xfrm>
          <a:prstGeom prst="rect">
            <a:avLst/>
          </a:prstGeom>
          <a:solidFill>
            <a:schemeClr val="bg2"/>
          </a:solidFill>
          <a:ln w="12700">
            <a:solidFill>
              <a:schemeClr val="bg2"/>
            </a:solidFill>
            <a:prstDash val="solid"/>
          </a:ln>
        </p:spPr>
      </p:sp>
      <p:sp>
        <p:nvSpPr>
          <p:cNvPr id="24" name="Ladder label Intervene SCORE"/>
          <p:cNvSpPr txBox="1"/>
          <p:nvPr/>
        </p:nvSpPr>
        <p:spPr>
          <a:xfrm>
            <a:off x="4846320" y="2212848"/>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SCORE</a:t>
            </a:r>
            <a:endParaRPr lang="en-US" sz="1100" dirty="0"/>
          </a:p>
        </p:txBody>
      </p:sp>
      <p:sp>
        <p:nvSpPr>
          <p:cNvPr id="25" name="Ladder value Intervene SCORE"/>
          <p:cNvSpPr txBox="1"/>
          <p:nvPr/>
        </p:nvSpPr>
        <p:spPr>
          <a:xfrm>
            <a:off x="4846320" y="2432304"/>
            <a:ext cx="1600200" cy="411480"/>
          </a:xfrm>
          <a:prstGeom prst="rect">
            <a:avLst/>
          </a:prstGeom>
          <a:noFill/>
          <a:ln/>
        </p:spPr>
        <p:txBody>
          <a:bodyPr wrap="square" lIns="0" tIns="0" rIns="0" bIns="0" rtlCol="0" anchor="t"/>
          <a:lstStyle/>
          <a:p>
            <a:pPr marL="0" indent="0">
              <a:buNone/>
            </a:pPr>
            <a:r>
              <a:rPr lang="en-US" sz="1400" b="1" dirty="0">
                <a:solidFill>
                  <a:schemeClr val="tx1"/>
                </a:solidFill>
              </a:rPr>
              <a:t>Over 60 for 5 s</a:t>
            </a:r>
            <a:endParaRPr lang="en-US" sz="1400" dirty="0"/>
          </a:p>
        </p:txBody>
      </p:sp>
      <p:sp>
        <p:nvSpPr>
          <p:cNvPr id="26" name="Ladder label Intervene CAR"/>
          <p:cNvSpPr txBox="1"/>
          <p:nvPr/>
        </p:nvSpPr>
        <p:spPr>
          <a:xfrm>
            <a:off x="4846320" y="2926080"/>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CAR</a:t>
            </a:r>
            <a:endParaRPr lang="en-US" sz="1100" dirty="0"/>
          </a:p>
        </p:txBody>
      </p:sp>
      <p:sp>
        <p:nvSpPr>
          <p:cNvPr id="27" name="Ladder value Intervene CAR"/>
          <p:cNvSpPr txBox="1"/>
          <p:nvPr/>
        </p:nvSpPr>
        <p:spPr>
          <a:xfrm>
            <a:off x="4846320" y="3145536"/>
            <a:ext cx="1600200" cy="411480"/>
          </a:xfrm>
          <a:prstGeom prst="rect">
            <a:avLst/>
          </a:prstGeom>
          <a:noFill/>
          <a:ln/>
        </p:spPr>
        <p:txBody>
          <a:bodyPr wrap="square" lIns="0" tIns="0" rIns="0" bIns="0" rtlCol="0" anchor="t"/>
          <a:lstStyle/>
          <a:p>
            <a:pPr marL="0" indent="0">
              <a:buNone/>
            </a:pPr>
            <a:r>
              <a:rPr lang="en-US" sz="1400" b="1" dirty="0">
                <a:solidFill>
                  <a:schemeClr val="tx1"/>
                </a:solidFill>
              </a:rPr>
              <a:t>Slows, merges right</a:t>
            </a:r>
            <a:endParaRPr lang="en-US" sz="1400" dirty="0"/>
          </a:p>
        </p:txBody>
      </p:sp>
      <p:sp>
        <p:nvSpPr>
          <p:cNvPr id="28" name="Ladder label Intervene SCREEN"/>
          <p:cNvSpPr txBox="1"/>
          <p:nvPr/>
        </p:nvSpPr>
        <p:spPr>
          <a:xfrm>
            <a:off x="4846320" y="3639312"/>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SCREEN</a:t>
            </a:r>
            <a:endParaRPr lang="en-US" sz="1100" dirty="0"/>
          </a:p>
        </p:txBody>
      </p:sp>
      <p:sp>
        <p:nvSpPr>
          <p:cNvPr id="29" name="Ladder value Intervene SCREEN"/>
          <p:cNvSpPr txBox="1"/>
          <p:nvPr/>
        </p:nvSpPr>
        <p:spPr>
          <a:xfrm>
            <a:off x="4846320" y="3858768"/>
            <a:ext cx="1600200" cy="411480"/>
          </a:xfrm>
          <a:prstGeom prst="rect">
            <a:avLst/>
          </a:prstGeom>
          <a:noFill/>
          <a:ln/>
        </p:spPr>
        <p:txBody>
          <a:bodyPr wrap="square" lIns="0" tIns="0" rIns="0" bIns="0" rtlCol="0" anchor="t"/>
          <a:lstStyle/>
          <a:p>
            <a:pPr marL="0" indent="0">
              <a:buNone/>
            </a:pPr>
            <a:r>
              <a:rPr lang="en-US" sz="1400" b="1" dirty="0">
                <a:solidFill>
                  <a:schemeClr val="tx1"/>
                </a:solidFill>
              </a:rPr>
              <a:t>Red banner</a:t>
            </a:r>
            <a:endParaRPr lang="en-US" sz="1400" dirty="0"/>
          </a:p>
        </p:txBody>
      </p:sp>
      <p:sp>
        <p:nvSpPr>
          <p:cNvPr id="30" name="Ladder header Escalate"/>
          <p:cNvSpPr/>
          <p:nvPr/>
        </p:nvSpPr>
        <p:spPr>
          <a:xfrm>
            <a:off x="6766560" y="1554480"/>
            <a:ext cx="1920240" cy="548640"/>
          </a:xfrm>
          <a:prstGeom prst="rect">
            <a:avLst/>
          </a:prstGeom>
          <a:solidFill>
            <a:schemeClr val="accent6"/>
          </a:solidFill>
          <a:ln w="12700">
            <a:solidFill>
              <a:schemeClr val="accent6"/>
            </a:solidFill>
            <a:prstDash val="solid"/>
          </a:ln>
        </p:spPr>
      </p:sp>
      <p:sp>
        <p:nvSpPr>
          <p:cNvPr id="31" name="Ladder name Escalate"/>
          <p:cNvSpPr txBox="1"/>
          <p:nvPr/>
        </p:nvSpPr>
        <p:spPr>
          <a:xfrm>
            <a:off x="6766560" y="1554480"/>
            <a:ext cx="19202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Escalate</a:t>
            </a:r>
            <a:endParaRPr lang="en-US" sz="2000" dirty="0"/>
          </a:p>
        </p:txBody>
      </p:sp>
      <p:sp>
        <p:nvSpPr>
          <p:cNvPr id="32" name="Ladder body Escalate"/>
          <p:cNvSpPr/>
          <p:nvPr/>
        </p:nvSpPr>
        <p:spPr>
          <a:xfrm>
            <a:off x="6766560" y="2103120"/>
            <a:ext cx="1920240" cy="2240280"/>
          </a:xfrm>
          <a:prstGeom prst="rect">
            <a:avLst/>
          </a:prstGeom>
          <a:solidFill>
            <a:schemeClr val="bg2"/>
          </a:solidFill>
          <a:ln w="12700">
            <a:solidFill>
              <a:schemeClr val="bg2"/>
            </a:solidFill>
            <a:prstDash val="solid"/>
          </a:ln>
        </p:spPr>
      </p:sp>
      <p:sp>
        <p:nvSpPr>
          <p:cNvPr id="33" name="Ladder label Escalate SCORE"/>
          <p:cNvSpPr txBox="1"/>
          <p:nvPr/>
        </p:nvSpPr>
        <p:spPr>
          <a:xfrm>
            <a:off x="6949440" y="2212848"/>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SCORE</a:t>
            </a:r>
            <a:endParaRPr lang="en-US" sz="1100" dirty="0"/>
          </a:p>
        </p:txBody>
      </p:sp>
      <p:sp>
        <p:nvSpPr>
          <p:cNvPr id="34" name="Ladder value Escalate SCORE"/>
          <p:cNvSpPr txBox="1"/>
          <p:nvPr/>
        </p:nvSpPr>
        <p:spPr>
          <a:xfrm>
            <a:off x="6949440" y="2432304"/>
            <a:ext cx="1600200" cy="411480"/>
          </a:xfrm>
          <a:prstGeom prst="rect">
            <a:avLst/>
          </a:prstGeom>
          <a:noFill/>
          <a:ln/>
        </p:spPr>
        <p:txBody>
          <a:bodyPr wrap="square" lIns="0" tIns="0" rIns="0" bIns="0" rtlCol="0" anchor="t"/>
          <a:lstStyle/>
          <a:p>
            <a:pPr marL="0" indent="0">
              <a:buNone/>
            </a:pPr>
            <a:r>
              <a:rPr lang="en-US" sz="1400" b="1" dirty="0">
                <a:solidFill>
                  <a:schemeClr val="tx1"/>
                </a:solidFill>
              </a:rPr>
              <a:t>80+ for 20 s</a:t>
            </a:r>
            <a:endParaRPr lang="en-US" sz="1400" dirty="0"/>
          </a:p>
        </p:txBody>
      </p:sp>
      <p:sp>
        <p:nvSpPr>
          <p:cNvPr id="35" name="Ladder label Escalate CAR"/>
          <p:cNvSpPr txBox="1"/>
          <p:nvPr/>
        </p:nvSpPr>
        <p:spPr>
          <a:xfrm>
            <a:off x="6949440" y="2926080"/>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CAR</a:t>
            </a:r>
            <a:endParaRPr lang="en-US" sz="1100" dirty="0"/>
          </a:p>
        </p:txBody>
      </p:sp>
      <p:sp>
        <p:nvSpPr>
          <p:cNvPr id="36" name="Ladder value Escalate CAR"/>
          <p:cNvSpPr txBox="1"/>
          <p:nvPr/>
        </p:nvSpPr>
        <p:spPr>
          <a:xfrm>
            <a:off x="6949440" y="3145536"/>
            <a:ext cx="1600200" cy="411480"/>
          </a:xfrm>
          <a:prstGeom prst="rect">
            <a:avLst/>
          </a:prstGeom>
          <a:noFill/>
          <a:ln/>
        </p:spPr>
        <p:txBody>
          <a:bodyPr wrap="square" lIns="0" tIns="0" rIns="0" bIns="0" rtlCol="0" anchor="t"/>
          <a:lstStyle/>
          <a:p>
            <a:pPr marL="0" indent="0">
              <a:buNone/>
            </a:pPr>
            <a:r>
              <a:rPr lang="en-US" sz="1400" b="1" dirty="0">
                <a:solidFill>
                  <a:schemeClr val="tx1"/>
                </a:solidFill>
              </a:rPr>
              <a:t>Stops on shoulder</a:t>
            </a:r>
            <a:endParaRPr lang="en-US" sz="1400" dirty="0"/>
          </a:p>
        </p:txBody>
      </p:sp>
      <p:sp>
        <p:nvSpPr>
          <p:cNvPr id="37" name="Ladder label Escalate SCREEN"/>
          <p:cNvSpPr txBox="1"/>
          <p:nvPr/>
        </p:nvSpPr>
        <p:spPr>
          <a:xfrm>
            <a:off x="6949440" y="3639312"/>
            <a:ext cx="1554480" cy="201168"/>
          </a:xfrm>
          <a:prstGeom prst="rect">
            <a:avLst/>
          </a:prstGeom>
          <a:noFill/>
          <a:ln/>
        </p:spPr>
        <p:txBody>
          <a:bodyPr wrap="square" lIns="0" tIns="0" rIns="0" bIns="0" rtlCol="0" anchor="t"/>
          <a:lstStyle/>
          <a:p>
            <a:pPr marL="0" indent="0">
              <a:buNone/>
            </a:pPr>
            <a:r>
              <a:rPr lang="en-US" sz="1100" b="1" dirty="0">
                <a:solidFill>
                  <a:schemeClr val="accent4"/>
                </a:solidFill>
              </a:rPr>
              <a:t>SCREEN</a:t>
            </a:r>
            <a:endParaRPr lang="en-US" sz="1100" dirty="0"/>
          </a:p>
        </p:txBody>
      </p:sp>
      <p:sp>
        <p:nvSpPr>
          <p:cNvPr id="38" name="Ladder value Escalate SCREEN"/>
          <p:cNvSpPr txBox="1"/>
          <p:nvPr/>
        </p:nvSpPr>
        <p:spPr>
          <a:xfrm>
            <a:off x="6949440" y="3858768"/>
            <a:ext cx="1600200" cy="411480"/>
          </a:xfrm>
          <a:prstGeom prst="rect">
            <a:avLst/>
          </a:prstGeom>
          <a:noFill/>
          <a:ln/>
        </p:spPr>
        <p:txBody>
          <a:bodyPr wrap="square" lIns="0" tIns="0" rIns="0" bIns="0" rtlCol="0" anchor="t"/>
          <a:lstStyle/>
          <a:p>
            <a:pPr marL="0" indent="0">
              <a:buNone/>
            </a:pPr>
            <a:r>
              <a:rPr lang="en-US" sz="1400" b="1" dirty="0">
                <a:solidFill>
                  <a:schemeClr val="tx1"/>
                </a:solidFill>
              </a:rPr>
              <a:t>15 s countdown</a:t>
            </a:r>
            <a:endParaRPr lang="en-US" sz="1400" dirty="0"/>
          </a:p>
        </p:txBody>
      </p:sp>
      <p:sp>
        <p:nvSpPr>
          <p:cNvPr id="39" name="Ladder note"/>
          <p:cNvSpPr txBox="1"/>
          <p:nvPr/>
        </p:nvSpPr>
        <p:spPr>
          <a:xfrm>
            <a:off x="457200" y="4480560"/>
            <a:ext cx="7498080" cy="228600"/>
          </a:xfrm>
          <a:prstGeom prst="rect">
            <a:avLst/>
          </a:prstGeom>
          <a:noFill/>
          <a:ln/>
        </p:spPr>
        <p:txBody>
          <a:bodyPr wrap="square" lIns="0" tIns="0" rIns="0" bIns="0" rtlCol="0" anchor="t"/>
          <a:lstStyle/>
          <a:p>
            <a:pPr marL="0" indent="0">
              <a:buNone/>
            </a:pPr>
            <a:r>
              <a:rPr lang="en-US" sz="1200" dirty="0">
                <a:solidFill>
                  <a:schemeClr val="accent4"/>
                </a:solidFill>
              </a:rPr>
              <a:t>A score below 60 returns the agent to normal from any state.</a:t>
            </a:r>
            <a:endParaRPr lang="en-US" sz="1200" dirty="0"/>
          </a:p>
        </p:txBody>
      </p:sp>
      <p:sp>
        <p:nvSpPr>
          <p:cNvPr id="4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A human stays in control</a:t>
            </a:r>
            <a:endParaRPr lang="en-US" sz="3600" dirty="0"/>
          </a:p>
        </p:txBody>
      </p:sp>
      <p:sp>
        <p:nvSpPr>
          <p:cNvPr id="3" name="Safety card 1"/>
          <p:cNvSpPr/>
          <p:nvPr/>
        </p:nvSpPr>
        <p:spPr>
          <a:xfrm>
            <a:off x="457200" y="1508760"/>
            <a:ext cx="3977640" cy="1417320"/>
          </a:xfrm>
          <a:prstGeom prst="roundRect">
            <a:avLst>
              <a:gd name="adj" fmla="val 5161"/>
            </a:avLst>
          </a:prstGeom>
          <a:solidFill>
            <a:schemeClr val="bg2"/>
          </a:solidFill>
          <a:ln w="12700">
            <a:solidFill>
              <a:schemeClr val="bg2"/>
            </a:solidFill>
            <a:prstDash val="solid"/>
          </a:ln>
        </p:spPr>
      </p:sp>
      <p:sp>
        <p:nvSpPr>
          <p:cNvPr id="4" name="Safety 1 circle"/>
          <p:cNvSpPr/>
          <p:nvPr/>
        </p:nvSpPr>
        <p:spPr>
          <a:xfrm>
            <a:off x="685800" y="1874520"/>
            <a:ext cx="685800" cy="685800"/>
          </a:xfrm>
          <a:prstGeom prst="ellipse">
            <a:avLst/>
          </a:prstGeom>
          <a:solidFill>
            <a:schemeClr val="accent5"/>
          </a:solidFill>
          <a:ln w="12700">
            <a:solidFill>
              <a:schemeClr val="accent5"/>
            </a:solidFill>
            <a:prstDash val="solid"/>
          </a:ln>
        </p:spPr>
      </p:sp>
      <p:pic>
        <p:nvPicPr>
          <p:cNvPr id="5" name="Safety 1 icon" descr="preencoded.png"/>
          <p:cNvPicPr>
            <a:picLocks noChangeAspect="1"/>
          </p:cNvPicPr>
          <p:nvPr/>
        </p:nvPicPr>
        <p:blipFill>
          <a:blip r:embed="rId3"/>
          <a:stretch>
            <a:fillRect/>
          </a:stretch>
        </p:blipFill>
        <p:spPr>
          <a:xfrm>
            <a:off x="850392" y="2039112"/>
            <a:ext cx="356616" cy="356616"/>
          </a:xfrm>
          <a:prstGeom prst="rect">
            <a:avLst/>
          </a:prstGeom>
        </p:spPr>
      </p:pic>
      <p:sp>
        <p:nvSpPr>
          <p:cNvPr id="6" name="Safety title 1"/>
          <p:cNvSpPr txBox="1"/>
          <p:nvPr/>
        </p:nvSpPr>
        <p:spPr>
          <a:xfrm>
            <a:off x="1554480" y="1737360"/>
            <a:ext cx="2743200" cy="32004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Cancel any time</a:t>
            </a:r>
            <a:endParaRPr lang="en-US" sz="1800" dirty="0"/>
          </a:p>
        </p:txBody>
      </p:sp>
      <p:sp>
        <p:nvSpPr>
          <p:cNvPr id="7" name="Safety text 1"/>
          <p:cNvSpPr txBox="1"/>
          <p:nvPr/>
        </p:nvSpPr>
        <p:spPr>
          <a:xfrm>
            <a:off x="1554480" y="2130552"/>
            <a:ext cx="2743200" cy="685800"/>
          </a:xfrm>
          <a:prstGeom prst="rect">
            <a:avLst/>
          </a:prstGeom>
          <a:noFill/>
          <a:ln/>
        </p:spPr>
        <p:txBody>
          <a:bodyPr wrap="square" lIns="0" tIns="0" rIns="0" bIns="0" rtlCol="0" anchor="t"/>
          <a:lstStyle/>
          <a:p>
            <a:pPr marL="0" indent="0">
              <a:buNone/>
            </a:pPr>
            <a:r>
              <a:rPr lang="en-US" sz="1400" dirty="0">
                <a:solidFill>
                  <a:schemeClr val="tx1"/>
                </a:solidFill>
              </a:rPr>
              <a:t>15 second countdown with an I'm OK button</a:t>
            </a:r>
            <a:endParaRPr lang="en-US" sz="1400" dirty="0"/>
          </a:p>
        </p:txBody>
      </p:sp>
      <p:sp>
        <p:nvSpPr>
          <p:cNvPr id="8" name="Safety card 2"/>
          <p:cNvSpPr/>
          <p:nvPr/>
        </p:nvSpPr>
        <p:spPr>
          <a:xfrm>
            <a:off x="4709160" y="1508760"/>
            <a:ext cx="3977640" cy="1417320"/>
          </a:xfrm>
          <a:prstGeom prst="roundRect">
            <a:avLst>
              <a:gd name="adj" fmla="val 5161"/>
            </a:avLst>
          </a:prstGeom>
          <a:solidFill>
            <a:schemeClr val="bg2"/>
          </a:solidFill>
          <a:ln w="12700">
            <a:solidFill>
              <a:schemeClr val="bg2"/>
            </a:solidFill>
            <a:prstDash val="solid"/>
          </a:ln>
        </p:spPr>
      </p:sp>
      <p:sp>
        <p:nvSpPr>
          <p:cNvPr id="9" name="Safety 2 circle"/>
          <p:cNvSpPr/>
          <p:nvPr/>
        </p:nvSpPr>
        <p:spPr>
          <a:xfrm>
            <a:off x="4937760" y="1874520"/>
            <a:ext cx="685800" cy="685800"/>
          </a:xfrm>
          <a:prstGeom prst="ellipse">
            <a:avLst/>
          </a:prstGeom>
          <a:solidFill>
            <a:schemeClr val="accent5"/>
          </a:solidFill>
          <a:ln w="12700">
            <a:solidFill>
              <a:schemeClr val="accent5"/>
            </a:solidFill>
            <a:prstDash val="solid"/>
          </a:ln>
        </p:spPr>
      </p:sp>
      <p:pic>
        <p:nvPicPr>
          <p:cNvPr id="10" name="Safety 2 icon" descr="preencoded.png"/>
          <p:cNvPicPr>
            <a:picLocks noChangeAspect="1"/>
          </p:cNvPicPr>
          <p:nvPr/>
        </p:nvPicPr>
        <p:blipFill>
          <a:blip r:embed="rId4"/>
          <a:stretch>
            <a:fillRect/>
          </a:stretch>
        </p:blipFill>
        <p:spPr>
          <a:xfrm>
            <a:off x="5102352" y="2039112"/>
            <a:ext cx="356616" cy="356616"/>
          </a:xfrm>
          <a:prstGeom prst="rect">
            <a:avLst/>
          </a:prstGeom>
        </p:spPr>
      </p:pic>
      <p:sp>
        <p:nvSpPr>
          <p:cNvPr id="11" name="Safety title 2"/>
          <p:cNvSpPr txBox="1"/>
          <p:nvPr/>
        </p:nvSpPr>
        <p:spPr>
          <a:xfrm>
            <a:off x="5806440" y="1737360"/>
            <a:ext cx="2743200" cy="32004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Never calls 911</a:t>
            </a:r>
            <a:endParaRPr lang="en-US" sz="1800" dirty="0"/>
          </a:p>
        </p:txBody>
      </p:sp>
      <p:sp>
        <p:nvSpPr>
          <p:cNvPr id="12" name="Safety text 2"/>
          <p:cNvSpPr txBox="1"/>
          <p:nvPr/>
        </p:nvSpPr>
        <p:spPr>
          <a:xfrm>
            <a:off x="5806440" y="2130552"/>
            <a:ext cx="2743200" cy="685800"/>
          </a:xfrm>
          <a:prstGeom prst="rect">
            <a:avLst/>
          </a:prstGeom>
          <a:noFill/>
          <a:ln/>
        </p:spPr>
        <p:txBody>
          <a:bodyPr wrap="square" lIns="0" tIns="0" rIns="0" bIns="0" rtlCol="0" anchor="t"/>
          <a:lstStyle/>
          <a:p>
            <a:pPr marL="0" indent="0">
              <a:buNone/>
            </a:pPr>
            <a:r>
              <a:rPr lang="en-US" sz="1400" dirty="0">
                <a:solidFill>
                  <a:schemeClr val="tx1"/>
                </a:solidFill>
              </a:rPr>
              <a:t>Silence alerts a personal contact. Call 911 stays a manual tap</a:t>
            </a:r>
            <a:endParaRPr lang="en-US" sz="1400" dirty="0"/>
          </a:p>
        </p:txBody>
      </p:sp>
      <p:sp>
        <p:nvSpPr>
          <p:cNvPr id="13" name="Safety card 3"/>
          <p:cNvSpPr/>
          <p:nvPr/>
        </p:nvSpPr>
        <p:spPr>
          <a:xfrm>
            <a:off x="457200" y="3200400"/>
            <a:ext cx="3977640" cy="1417320"/>
          </a:xfrm>
          <a:prstGeom prst="roundRect">
            <a:avLst>
              <a:gd name="adj" fmla="val 5161"/>
            </a:avLst>
          </a:prstGeom>
          <a:solidFill>
            <a:schemeClr val="bg2"/>
          </a:solidFill>
          <a:ln w="12700">
            <a:solidFill>
              <a:schemeClr val="bg2"/>
            </a:solidFill>
            <a:prstDash val="solid"/>
          </a:ln>
        </p:spPr>
      </p:sp>
      <p:sp>
        <p:nvSpPr>
          <p:cNvPr id="14" name="Safety 3 circle"/>
          <p:cNvSpPr/>
          <p:nvPr/>
        </p:nvSpPr>
        <p:spPr>
          <a:xfrm>
            <a:off x="685800" y="3566160"/>
            <a:ext cx="685800" cy="685800"/>
          </a:xfrm>
          <a:prstGeom prst="ellipse">
            <a:avLst/>
          </a:prstGeom>
          <a:solidFill>
            <a:schemeClr val="accent5"/>
          </a:solidFill>
          <a:ln w="12700">
            <a:solidFill>
              <a:schemeClr val="accent5"/>
            </a:solidFill>
            <a:prstDash val="solid"/>
          </a:ln>
        </p:spPr>
      </p:sp>
      <p:pic>
        <p:nvPicPr>
          <p:cNvPr id="15" name="Safety 3 icon" descr="preencoded.png"/>
          <p:cNvPicPr>
            <a:picLocks noChangeAspect="1"/>
          </p:cNvPicPr>
          <p:nvPr/>
        </p:nvPicPr>
        <p:blipFill>
          <a:blip r:embed="rId5"/>
          <a:stretch>
            <a:fillRect/>
          </a:stretch>
        </p:blipFill>
        <p:spPr>
          <a:xfrm>
            <a:off x="850392" y="3730752"/>
            <a:ext cx="356616" cy="356616"/>
          </a:xfrm>
          <a:prstGeom prst="rect">
            <a:avLst/>
          </a:prstGeom>
        </p:spPr>
      </p:pic>
      <p:sp>
        <p:nvSpPr>
          <p:cNvPr id="16" name="Safety title 3"/>
          <p:cNvSpPr txBox="1"/>
          <p:nvPr/>
        </p:nvSpPr>
        <p:spPr>
          <a:xfrm>
            <a:off x="1554480" y="3429000"/>
            <a:ext cx="2743200" cy="32004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Data guardrails</a:t>
            </a:r>
            <a:endParaRPr lang="en-US" sz="1800" dirty="0"/>
          </a:p>
        </p:txBody>
      </p:sp>
      <p:sp>
        <p:nvSpPr>
          <p:cNvPr id="17" name="Safety text 3"/>
          <p:cNvSpPr txBox="1"/>
          <p:nvPr/>
        </p:nvSpPr>
        <p:spPr>
          <a:xfrm>
            <a:off x="1554480" y="3822192"/>
            <a:ext cx="2743200" cy="685800"/>
          </a:xfrm>
          <a:prstGeom prst="rect">
            <a:avLst/>
          </a:prstGeom>
          <a:noFill/>
          <a:ln/>
        </p:spPr>
        <p:txBody>
          <a:bodyPr wrap="square" lIns="0" tIns="0" rIns="0" bIns="0" rtlCol="0" anchor="t"/>
          <a:lstStyle/>
          <a:p>
            <a:pPr marL="0" indent="0">
              <a:buNone/>
            </a:pPr>
            <a:r>
              <a:rPr lang="en-US" sz="1400" dirty="0">
                <a:solidFill>
                  <a:schemeClr val="tx1"/>
                </a:solidFill>
              </a:rPr>
              <a:t>Rejects impossible readings, flags stale data, limits speed changes</a:t>
            </a:r>
            <a:endParaRPr lang="en-US" sz="1400" dirty="0"/>
          </a:p>
        </p:txBody>
      </p:sp>
      <p:sp>
        <p:nvSpPr>
          <p:cNvPr id="18" name="Safety card 4"/>
          <p:cNvSpPr/>
          <p:nvPr/>
        </p:nvSpPr>
        <p:spPr>
          <a:xfrm>
            <a:off x="4709160" y="3200400"/>
            <a:ext cx="3977640" cy="1417320"/>
          </a:xfrm>
          <a:prstGeom prst="roundRect">
            <a:avLst>
              <a:gd name="adj" fmla="val 5161"/>
            </a:avLst>
          </a:prstGeom>
          <a:solidFill>
            <a:schemeClr val="bg2"/>
          </a:solidFill>
          <a:ln w="12700">
            <a:solidFill>
              <a:schemeClr val="bg2"/>
            </a:solidFill>
            <a:prstDash val="solid"/>
          </a:ln>
        </p:spPr>
      </p:sp>
      <p:sp>
        <p:nvSpPr>
          <p:cNvPr id="19" name="Safety 4 circle"/>
          <p:cNvSpPr/>
          <p:nvPr/>
        </p:nvSpPr>
        <p:spPr>
          <a:xfrm>
            <a:off x="4937760" y="3566160"/>
            <a:ext cx="685800" cy="685800"/>
          </a:xfrm>
          <a:prstGeom prst="ellipse">
            <a:avLst/>
          </a:prstGeom>
          <a:solidFill>
            <a:schemeClr val="accent5"/>
          </a:solidFill>
          <a:ln w="12700">
            <a:solidFill>
              <a:schemeClr val="accent5"/>
            </a:solidFill>
            <a:prstDash val="solid"/>
          </a:ln>
        </p:spPr>
      </p:sp>
      <p:pic>
        <p:nvPicPr>
          <p:cNvPr id="20" name="Safety 4 icon" descr="preencoded.png"/>
          <p:cNvPicPr>
            <a:picLocks noChangeAspect="1"/>
          </p:cNvPicPr>
          <p:nvPr/>
        </p:nvPicPr>
        <p:blipFill>
          <a:blip r:embed="rId6"/>
          <a:stretch>
            <a:fillRect/>
          </a:stretch>
        </p:blipFill>
        <p:spPr>
          <a:xfrm>
            <a:off x="5102352" y="3730752"/>
            <a:ext cx="356616" cy="356616"/>
          </a:xfrm>
          <a:prstGeom prst="rect">
            <a:avLst/>
          </a:prstGeom>
        </p:spPr>
      </p:pic>
      <p:sp>
        <p:nvSpPr>
          <p:cNvPr id="21" name="Safety title 4"/>
          <p:cNvSpPr txBox="1"/>
          <p:nvPr/>
        </p:nvSpPr>
        <p:spPr>
          <a:xfrm>
            <a:off x="5806440" y="3429000"/>
            <a:ext cx="2743200" cy="32004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Simulation only</a:t>
            </a:r>
            <a:endParaRPr lang="en-US" sz="1800" dirty="0"/>
          </a:p>
        </p:txBody>
      </p:sp>
      <p:sp>
        <p:nvSpPr>
          <p:cNvPr id="22" name="Safety text 4"/>
          <p:cNvSpPr txBox="1"/>
          <p:nvPr/>
        </p:nvSpPr>
        <p:spPr>
          <a:xfrm>
            <a:off x="5806440" y="3822192"/>
            <a:ext cx="2743200" cy="685800"/>
          </a:xfrm>
          <a:prstGeom prst="rect">
            <a:avLst/>
          </a:prstGeom>
          <a:noFill/>
          <a:ln/>
        </p:spPr>
        <p:txBody>
          <a:bodyPr wrap="square" lIns="0" tIns="0" rIns="0" bIns="0" rtlCol="0" anchor="t"/>
          <a:lstStyle/>
          <a:p>
            <a:pPr marL="0" indent="0">
              <a:buNone/>
            </a:pPr>
            <a:r>
              <a:rPr lang="en-US" sz="1400" dirty="0">
                <a:solidFill>
                  <a:schemeClr val="tx1"/>
                </a:solidFill>
              </a:rPr>
              <a:t>No link to a real vehicle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The prototype is largely built</a:t>
            </a:r>
            <a:endParaRPr lang="en-US" sz="3600" dirty="0"/>
          </a:p>
        </p:txBody>
      </p:sp>
      <p:graphicFrame>
        <p:nvGraphicFramePr>
          <p:cNvPr id="3" name="Requirements chart"/>
          <p:cNvGraphicFramePr/>
          <p:nvPr/>
        </p:nvGraphicFramePr>
        <p:xfrm>
          <a:off x="457200" y="1463040"/>
          <a:ext cx="39319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4" name="Evals stat"/>
          <p:cNvSpPr txBox="1"/>
          <p:nvPr/>
        </p:nvSpPr>
        <p:spPr>
          <a:xfrm>
            <a:off x="4754880" y="1508760"/>
            <a:ext cx="3931920" cy="731520"/>
          </a:xfrm>
          <a:prstGeom prst="rect">
            <a:avLst/>
          </a:prstGeom>
          <a:noFill/>
          <a:ln/>
        </p:spPr>
        <p:txBody>
          <a:bodyPr wrap="square" lIns="0" tIns="0" rIns="0" bIns="0" rtlCol="0" anchor="t"/>
          <a:lstStyle/>
          <a:p>
            <a:pPr marL="0" indent="0">
              <a:buNone/>
            </a:pPr>
            <a:r>
              <a:rPr lang="en-US" sz="4800" b="1" dirty="0">
                <a:solidFill>
                  <a:schemeClr val="accent6"/>
                </a:solidFill>
                <a:latin typeface="Cambria" pitchFamily="34" charset="0"/>
                <a:ea typeface="Cambria" pitchFamily="34" charset="-122"/>
                <a:cs typeface="Cambria" pitchFamily="34" charset="-120"/>
              </a:rPr>
              <a:t>6 of 6</a:t>
            </a:r>
            <a:endParaRPr lang="en-US" sz="4800" dirty="0"/>
          </a:p>
        </p:txBody>
      </p:sp>
      <p:sp>
        <p:nvSpPr>
          <p:cNvPr id="5" name="Evals label"/>
          <p:cNvSpPr txBox="1"/>
          <p:nvPr/>
        </p:nvSpPr>
        <p:spPr>
          <a:xfrm>
            <a:off x="4754880" y="2240280"/>
            <a:ext cx="3931920" cy="274320"/>
          </a:xfrm>
          <a:prstGeom prst="rect">
            <a:avLst/>
          </a:prstGeom>
          <a:noFill/>
          <a:ln/>
        </p:spPr>
        <p:txBody>
          <a:bodyPr wrap="square" lIns="0" tIns="0" rIns="0" bIns="0" rtlCol="0" anchor="t"/>
          <a:lstStyle/>
          <a:p>
            <a:pPr marL="0" indent="0">
              <a:buNone/>
            </a:pPr>
            <a:r>
              <a:rPr lang="en-US" sz="1400" dirty="0">
                <a:solidFill>
                  <a:schemeClr val="tx1"/>
                </a:solidFill>
              </a:rPr>
              <a:t>scenario evals passing</a:t>
            </a:r>
            <a:endParaRPr lang="en-US" sz="1400" dirty="0"/>
          </a:p>
        </p:txBody>
      </p:sp>
      <p:pic>
        <p:nvPicPr>
          <p:cNvPr id="6" name="Check 1" descr="preencoded.png"/>
          <p:cNvPicPr>
            <a:picLocks noChangeAspect="1"/>
          </p:cNvPicPr>
          <p:nvPr/>
        </p:nvPicPr>
        <p:blipFill>
          <a:blip r:embed="rId4"/>
          <a:stretch>
            <a:fillRect/>
          </a:stretch>
        </p:blipFill>
        <p:spPr>
          <a:xfrm>
            <a:off x="4754880" y="2761488"/>
            <a:ext cx="237744" cy="237744"/>
          </a:xfrm>
          <a:prstGeom prst="rect">
            <a:avLst/>
          </a:prstGeom>
        </p:spPr>
      </p:pic>
      <p:sp>
        <p:nvSpPr>
          <p:cNvPr id="7" name="Built item 1"/>
          <p:cNvSpPr txBox="1"/>
          <p:nvPr/>
        </p:nvSpPr>
        <p:spPr>
          <a:xfrm>
            <a:off x="5120640" y="2743200"/>
            <a:ext cx="3566160" cy="274320"/>
          </a:xfrm>
          <a:prstGeom prst="rect">
            <a:avLst/>
          </a:prstGeom>
          <a:noFill/>
          <a:ln/>
        </p:spPr>
        <p:txBody>
          <a:bodyPr wrap="square" lIns="0" tIns="0" rIns="0" bIns="0" rtlCol="0" anchor="t"/>
          <a:lstStyle/>
          <a:p>
            <a:pPr marL="0" indent="0">
              <a:buNone/>
            </a:pPr>
            <a:r>
              <a:rPr lang="en-US" sz="1400" dirty="0">
                <a:solidFill>
                  <a:schemeClr val="tx1"/>
                </a:solidFill>
              </a:rPr>
              <a:t>Bluetooth heart-rate intake</a:t>
            </a:r>
            <a:endParaRPr lang="en-US" sz="1400" dirty="0"/>
          </a:p>
        </p:txBody>
      </p:sp>
      <p:pic>
        <p:nvPicPr>
          <p:cNvPr id="8" name="Check 2" descr="preencoded.png"/>
          <p:cNvPicPr>
            <a:picLocks noChangeAspect="1"/>
          </p:cNvPicPr>
          <p:nvPr/>
        </p:nvPicPr>
        <p:blipFill>
          <a:blip r:embed="rId4"/>
          <a:stretch>
            <a:fillRect/>
          </a:stretch>
        </p:blipFill>
        <p:spPr>
          <a:xfrm>
            <a:off x="4754880" y="3145536"/>
            <a:ext cx="237744" cy="237744"/>
          </a:xfrm>
          <a:prstGeom prst="rect">
            <a:avLst/>
          </a:prstGeom>
        </p:spPr>
      </p:pic>
      <p:sp>
        <p:nvSpPr>
          <p:cNvPr id="9" name="Built item 2"/>
          <p:cNvSpPr txBox="1"/>
          <p:nvPr/>
        </p:nvSpPr>
        <p:spPr>
          <a:xfrm>
            <a:off x="5120640" y="3127248"/>
            <a:ext cx="3566160" cy="274320"/>
          </a:xfrm>
          <a:prstGeom prst="rect">
            <a:avLst/>
          </a:prstGeom>
          <a:noFill/>
          <a:ln/>
        </p:spPr>
        <p:txBody>
          <a:bodyPr wrap="square" lIns="0" tIns="0" rIns="0" bIns="0" rtlCol="0" anchor="t"/>
          <a:lstStyle/>
          <a:p>
            <a:pPr marL="0" indent="0">
              <a:buNone/>
            </a:pPr>
            <a:r>
              <a:rPr lang="en-US" sz="1400" dirty="0">
                <a:solidFill>
                  <a:schemeClr val="tx1"/>
                </a:solidFill>
              </a:rPr>
              <a:t>Guardrails and event log</a:t>
            </a:r>
            <a:endParaRPr lang="en-US" sz="1400" dirty="0"/>
          </a:p>
        </p:txBody>
      </p:sp>
      <p:pic>
        <p:nvPicPr>
          <p:cNvPr id="10" name="Check 3" descr="preencoded.png"/>
          <p:cNvPicPr>
            <a:picLocks noChangeAspect="1"/>
          </p:cNvPicPr>
          <p:nvPr/>
        </p:nvPicPr>
        <p:blipFill>
          <a:blip r:embed="rId4"/>
          <a:stretch>
            <a:fillRect/>
          </a:stretch>
        </p:blipFill>
        <p:spPr>
          <a:xfrm>
            <a:off x="4754880" y="3529584"/>
            <a:ext cx="237744" cy="237744"/>
          </a:xfrm>
          <a:prstGeom prst="rect">
            <a:avLst/>
          </a:prstGeom>
        </p:spPr>
      </p:pic>
      <p:sp>
        <p:nvSpPr>
          <p:cNvPr id="11" name="Built item 3"/>
          <p:cNvSpPr txBox="1"/>
          <p:nvPr/>
        </p:nvSpPr>
        <p:spPr>
          <a:xfrm>
            <a:off x="5120640" y="3511296"/>
            <a:ext cx="3566160" cy="274320"/>
          </a:xfrm>
          <a:prstGeom prst="rect">
            <a:avLst/>
          </a:prstGeom>
          <a:noFill/>
          <a:ln/>
        </p:spPr>
        <p:txBody>
          <a:bodyPr wrap="square" lIns="0" tIns="0" rIns="0" bIns="0" rtlCol="0" anchor="t"/>
          <a:lstStyle/>
          <a:p>
            <a:pPr marL="0" indent="0">
              <a:buNone/>
            </a:pPr>
            <a:r>
              <a:rPr lang="en-US" sz="1400" dirty="0">
                <a:solidFill>
                  <a:schemeClr val="tx1"/>
                </a:solidFill>
              </a:rPr>
              <a:t>AI scoring and escalation agent</a:t>
            </a:r>
            <a:endParaRPr lang="en-US" sz="1400" dirty="0"/>
          </a:p>
        </p:txBody>
      </p:sp>
      <p:pic>
        <p:nvPicPr>
          <p:cNvPr id="12" name="Check 4" descr="preencoded.png"/>
          <p:cNvPicPr>
            <a:picLocks noChangeAspect="1"/>
          </p:cNvPicPr>
          <p:nvPr/>
        </p:nvPicPr>
        <p:blipFill>
          <a:blip r:embed="rId4"/>
          <a:stretch>
            <a:fillRect/>
          </a:stretch>
        </p:blipFill>
        <p:spPr>
          <a:xfrm>
            <a:off x="4754880" y="3913632"/>
            <a:ext cx="237744" cy="237744"/>
          </a:xfrm>
          <a:prstGeom prst="rect">
            <a:avLst/>
          </a:prstGeom>
        </p:spPr>
      </p:pic>
      <p:sp>
        <p:nvSpPr>
          <p:cNvPr id="13" name="Built item 4"/>
          <p:cNvSpPr txBox="1"/>
          <p:nvPr/>
        </p:nvSpPr>
        <p:spPr>
          <a:xfrm>
            <a:off x="5120640" y="3895344"/>
            <a:ext cx="3566160" cy="274320"/>
          </a:xfrm>
          <a:prstGeom prst="rect">
            <a:avLst/>
          </a:prstGeom>
          <a:noFill/>
          <a:ln/>
        </p:spPr>
        <p:txBody>
          <a:bodyPr wrap="square" lIns="0" tIns="0" rIns="0" bIns="0" rtlCol="0" anchor="t"/>
          <a:lstStyle/>
          <a:p>
            <a:pPr marL="0" indent="0">
              <a:buNone/>
            </a:pPr>
            <a:r>
              <a:rPr lang="en-US" sz="1400" dirty="0">
                <a:solidFill>
                  <a:schemeClr val="tx1"/>
                </a:solidFill>
              </a:rPr>
              <a:t>Freeway simulator dashboard</a:t>
            </a:r>
            <a:endParaRPr lang="en-US" sz="1400" dirty="0"/>
          </a:p>
        </p:txBody>
      </p:sp>
      <p:sp>
        <p:nvSpPr>
          <p:cNvPr id="14" name="Next items"/>
          <p:cNvSpPr txBox="1"/>
          <p:nvPr/>
        </p:nvSpPr>
        <p:spPr>
          <a:xfrm>
            <a:off x="4754880" y="4343400"/>
            <a:ext cx="3840480" cy="365760"/>
          </a:xfrm>
          <a:prstGeom prst="rect">
            <a:avLst/>
          </a:prstGeom>
          <a:noFill/>
          <a:ln/>
        </p:spPr>
        <p:txBody>
          <a:bodyPr wrap="square" lIns="0" tIns="0" rIns="0" bIns="0" rtlCol="0" anchor="t"/>
          <a:lstStyle/>
          <a:p>
            <a:pPr marL="0" indent="0">
              <a:buNone/>
            </a:pPr>
            <a:r>
              <a:rPr lang="en-US" sz="1200" dirty="0">
                <a:solidFill>
                  <a:schemeClr val="accent4"/>
                </a:solidFill>
              </a:rPr>
              <a:t>Next: dead-man's alert, watch relay, retries, confidence gate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Heart rate flags distress, not disease</a:t>
            </a:r>
            <a:endParaRPr lang="en-US" sz="3600" dirty="0"/>
          </a:p>
        </p:txBody>
      </p:sp>
      <p:sp>
        <p:nvSpPr>
          <p:cNvPr id="3" name="Limit hero card"/>
          <p:cNvSpPr/>
          <p:nvPr/>
        </p:nvSpPr>
        <p:spPr>
          <a:xfrm>
            <a:off x="457200" y="1554480"/>
            <a:ext cx="3383280" cy="3063240"/>
          </a:xfrm>
          <a:prstGeom prst="roundRect">
            <a:avLst>
              <a:gd name="adj" fmla="val 2388"/>
            </a:avLst>
          </a:prstGeom>
          <a:solidFill>
            <a:schemeClr val="tx2"/>
          </a:solidFill>
          <a:ln w="12700">
            <a:solidFill>
              <a:schemeClr val="tx2"/>
            </a:solidFill>
            <a:prstDash val="solid"/>
          </a:ln>
        </p:spPr>
      </p:sp>
      <p:sp>
        <p:nvSpPr>
          <p:cNvPr id="4" name="Limit hero circle"/>
          <p:cNvSpPr/>
          <p:nvPr/>
        </p:nvSpPr>
        <p:spPr>
          <a:xfrm>
            <a:off x="731520" y="1783080"/>
            <a:ext cx="731520" cy="731520"/>
          </a:xfrm>
          <a:prstGeom prst="ellipse">
            <a:avLst/>
          </a:prstGeom>
          <a:solidFill>
            <a:schemeClr val="accent3"/>
          </a:solidFill>
          <a:ln w="12700">
            <a:solidFill>
              <a:schemeClr val="accent3"/>
            </a:solidFill>
            <a:prstDash val="solid"/>
          </a:ln>
        </p:spPr>
      </p:sp>
      <p:pic>
        <p:nvPicPr>
          <p:cNvPr id="5" name="Limit hero icon" descr="preencoded.png"/>
          <p:cNvPicPr>
            <a:picLocks noChangeAspect="1"/>
          </p:cNvPicPr>
          <p:nvPr/>
        </p:nvPicPr>
        <p:blipFill>
          <a:blip r:embed="rId3"/>
          <a:stretch>
            <a:fillRect/>
          </a:stretch>
        </p:blipFill>
        <p:spPr>
          <a:xfrm>
            <a:off x="914400" y="1965960"/>
            <a:ext cx="365760" cy="365760"/>
          </a:xfrm>
          <a:prstGeom prst="rect">
            <a:avLst/>
          </a:prstGeom>
        </p:spPr>
      </p:pic>
      <p:sp>
        <p:nvSpPr>
          <p:cNvPr id="6" name="Limit hero text"/>
          <p:cNvSpPr txBox="1"/>
          <p:nvPr/>
        </p:nvSpPr>
        <p:spPr>
          <a:xfrm>
            <a:off x="731520" y="2697480"/>
            <a:ext cx="2834640" cy="118872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Heart rate and HRV cannot separate stress from a cardiac event</a:t>
            </a:r>
            <a:endParaRPr lang="en-US" sz="2000" dirty="0"/>
          </a:p>
        </p:txBody>
      </p:sp>
      <p:sp>
        <p:nvSpPr>
          <p:cNvPr id="7" name="Limit hero sub"/>
          <p:cNvSpPr txBox="1"/>
          <p:nvPr/>
        </p:nvSpPr>
        <p:spPr>
          <a:xfrm>
            <a:off x="731520" y="3931920"/>
            <a:ext cx="2834640" cy="548640"/>
          </a:xfrm>
          <a:prstGeom prst="rect">
            <a:avLst/>
          </a:prstGeom>
          <a:noFill/>
          <a:ln/>
        </p:spPr>
        <p:txBody>
          <a:bodyPr wrap="square" lIns="0" tIns="0" rIns="0" bIns="0" rtlCol="0" anchor="t"/>
          <a:lstStyle/>
          <a:p>
            <a:pPr marL="0" indent="0">
              <a:buNone/>
            </a:pPr>
            <a:r>
              <a:rPr lang="en-US" sz="1400" dirty="0">
                <a:solidFill>
                  <a:schemeClr val="bg2"/>
                </a:solidFill>
              </a:rPr>
              <a:t>So the app flags distress and never diagnoses.</a:t>
            </a:r>
            <a:endParaRPr lang="en-US" sz="1400" dirty="0"/>
          </a:p>
        </p:txBody>
      </p:sp>
      <p:sp>
        <p:nvSpPr>
          <p:cNvPr id="8" name="Limit card 1"/>
          <p:cNvSpPr/>
          <p:nvPr/>
        </p:nvSpPr>
        <p:spPr>
          <a:xfrm>
            <a:off x="4114800" y="1554480"/>
            <a:ext cx="4572000" cy="868680"/>
          </a:xfrm>
          <a:prstGeom prst="roundRect">
            <a:avLst>
              <a:gd name="adj" fmla="val 8421"/>
            </a:avLst>
          </a:prstGeom>
          <a:solidFill>
            <a:schemeClr val="bg2"/>
          </a:solidFill>
          <a:ln w="12700">
            <a:solidFill>
              <a:schemeClr val="bg2"/>
            </a:solidFill>
            <a:prstDash val="solid"/>
          </a:ln>
        </p:spPr>
      </p:sp>
      <p:sp>
        <p:nvSpPr>
          <p:cNvPr id="9" name="Limit 1 circle"/>
          <p:cNvSpPr/>
          <p:nvPr/>
        </p:nvSpPr>
        <p:spPr>
          <a:xfrm>
            <a:off x="4297680" y="1719072"/>
            <a:ext cx="548640" cy="548640"/>
          </a:xfrm>
          <a:prstGeom prst="ellipse">
            <a:avLst/>
          </a:prstGeom>
          <a:solidFill>
            <a:schemeClr val="accent5"/>
          </a:solidFill>
          <a:ln w="12700">
            <a:solidFill>
              <a:schemeClr val="accent5"/>
            </a:solidFill>
            <a:prstDash val="solid"/>
          </a:ln>
        </p:spPr>
      </p:sp>
      <p:pic>
        <p:nvPicPr>
          <p:cNvPr id="10" name="Limit 1 icon" descr="preencoded.png"/>
          <p:cNvPicPr>
            <a:picLocks noChangeAspect="1"/>
          </p:cNvPicPr>
          <p:nvPr/>
        </p:nvPicPr>
        <p:blipFill>
          <a:blip r:embed="rId4"/>
          <a:stretch>
            <a:fillRect/>
          </a:stretch>
        </p:blipFill>
        <p:spPr>
          <a:xfrm>
            <a:off x="4429354" y="1850746"/>
            <a:ext cx="285293" cy="285293"/>
          </a:xfrm>
          <a:prstGeom prst="rect">
            <a:avLst/>
          </a:prstGeom>
        </p:spPr>
      </p:pic>
      <p:sp>
        <p:nvSpPr>
          <p:cNvPr id="11" name="Limit title 1"/>
          <p:cNvSpPr txBox="1"/>
          <p:nvPr/>
        </p:nvSpPr>
        <p:spPr>
          <a:xfrm>
            <a:off x="5029200" y="1664208"/>
            <a:ext cx="3520440" cy="274320"/>
          </a:xfrm>
          <a:prstGeom prst="rect">
            <a:avLst/>
          </a:prstGeom>
          <a:noFill/>
          <a:ln/>
        </p:spPr>
        <p:txBody>
          <a:bodyPr wrap="square" lIns="0" tIns="0" rIns="0" bIns="0" rtlCol="0" anchor="t"/>
          <a:lstStyle/>
          <a:p>
            <a:pPr marL="0" indent="0">
              <a:buNone/>
            </a:pPr>
            <a:r>
              <a:rPr lang="en-US" sz="1600" b="1" dirty="0">
                <a:solidFill>
                  <a:schemeClr val="tx2"/>
                </a:solidFill>
              </a:rPr>
              <a:t>Wrist data is noisy</a:t>
            </a:r>
            <a:endParaRPr lang="en-US" sz="1600" dirty="0"/>
          </a:p>
        </p:txBody>
      </p:sp>
      <p:sp>
        <p:nvSpPr>
          <p:cNvPr id="12" name="Limit text 1"/>
          <p:cNvSpPr txBox="1"/>
          <p:nvPr/>
        </p:nvSpPr>
        <p:spPr>
          <a:xfrm>
            <a:off x="5029200" y="1965960"/>
            <a:ext cx="3520440" cy="411480"/>
          </a:xfrm>
          <a:prstGeom prst="rect">
            <a:avLst/>
          </a:prstGeom>
          <a:noFill/>
          <a:ln/>
        </p:spPr>
        <p:txBody>
          <a:bodyPr wrap="square" lIns="0" tIns="0" rIns="0" bIns="0" rtlCol="0" anchor="t"/>
          <a:lstStyle/>
          <a:p>
            <a:pPr marL="0" indent="0">
              <a:buNone/>
            </a:pPr>
            <a:r>
              <a:rPr lang="en-US" sz="1400" dirty="0">
                <a:solidFill>
                  <a:schemeClr val="tx1"/>
                </a:solidFill>
              </a:rPr>
              <a:t>Motion and skin tone distort readings</a:t>
            </a:r>
            <a:endParaRPr lang="en-US" sz="1400" dirty="0"/>
          </a:p>
        </p:txBody>
      </p:sp>
      <p:sp>
        <p:nvSpPr>
          <p:cNvPr id="13" name="Limit card 2"/>
          <p:cNvSpPr/>
          <p:nvPr/>
        </p:nvSpPr>
        <p:spPr>
          <a:xfrm>
            <a:off x="4114800" y="2651760"/>
            <a:ext cx="4572000" cy="868680"/>
          </a:xfrm>
          <a:prstGeom prst="roundRect">
            <a:avLst>
              <a:gd name="adj" fmla="val 8421"/>
            </a:avLst>
          </a:prstGeom>
          <a:solidFill>
            <a:schemeClr val="bg2"/>
          </a:solidFill>
          <a:ln w="12700">
            <a:solidFill>
              <a:schemeClr val="bg2"/>
            </a:solidFill>
            <a:prstDash val="solid"/>
          </a:ln>
        </p:spPr>
      </p:sp>
      <p:sp>
        <p:nvSpPr>
          <p:cNvPr id="14" name="Limit 2 circle"/>
          <p:cNvSpPr/>
          <p:nvPr/>
        </p:nvSpPr>
        <p:spPr>
          <a:xfrm>
            <a:off x="4297680" y="2816352"/>
            <a:ext cx="548640" cy="548640"/>
          </a:xfrm>
          <a:prstGeom prst="ellipse">
            <a:avLst/>
          </a:prstGeom>
          <a:solidFill>
            <a:schemeClr val="accent5"/>
          </a:solidFill>
          <a:ln w="12700">
            <a:solidFill>
              <a:schemeClr val="accent5"/>
            </a:solidFill>
            <a:prstDash val="solid"/>
          </a:ln>
        </p:spPr>
      </p:sp>
      <p:pic>
        <p:nvPicPr>
          <p:cNvPr id="15" name="Limit 2 icon" descr="preencoded.png"/>
          <p:cNvPicPr>
            <a:picLocks noChangeAspect="1"/>
          </p:cNvPicPr>
          <p:nvPr/>
        </p:nvPicPr>
        <p:blipFill>
          <a:blip r:embed="rId5"/>
          <a:stretch>
            <a:fillRect/>
          </a:stretch>
        </p:blipFill>
        <p:spPr>
          <a:xfrm>
            <a:off x="4429354" y="2948026"/>
            <a:ext cx="285293" cy="285293"/>
          </a:xfrm>
          <a:prstGeom prst="rect">
            <a:avLst/>
          </a:prstGeom>
        </p:spPr>
      </p:pic>
      <p:sp>
        <p:nvSpPr>
          <p:cNvPr id="16" name="Limit title 2"/>
          <p:cNvSpPr txBox="1"/>
          <p:nvPr/>
        </p:nvSpPr>
        <p:spPr>
          <a:xfrm>
            <a:off x="5029200" y="2761488"/>
            <a:ext cx="3520440" cy="274320"/>
          </a:xfrm>
          <a:prstGeom prst="rect">
            <a:avLst/>
          </a:prstGeom>
          <a:noFill/>
          <a:ln/>
        </p:spPr>
        <p:txBody>
          <a:bodyPr wrap="square" lIns="0" tIns="0" rIns="0" bIns="0" rtlCol="0" anchor="t"/>
          <a:lstStyle/>
          <a:p>
            <a:pPr marL="0" indent="0">
              <a:buNone/>
            </a:pPr>
            <a:r>
              <a:rPr lang="en-US" sz="1600" b="1" dirty="0">
                <a:solidFill>
                  <a:schemeClr val="tx2"/>
                </a:solidFill>
              </a:rPr>
              <a:t>Silent sensor loss</a:t>
            </a:r>
            <a:endParaRPr lang="en-US" sz="1600" dirty="0"/>
          </a:p>
        </p:txBody>
      </p:sp>
      <p:sp>
        <p:nvSpPr>
          <p:cNvPr id="17" name="Limit text 2"/>
          <p:cNvSpPr txBox="1"/>
          <p:nvPr/>
        </p:nvSpPr>
        <p:spPr>
          <a:xfrm>
            <a:off x="5029200" y="3063240"/>
            <a:ext cx="3520440" cy="411480"/>
          </a:xfrm>
          <a:prstGeom prst="rect">
            <a:avLst/>
          </a:prstGeom>
          <a:noFill/>
          <a:ln/>
        </p:spPr>
        <p:txBody>
          <a:bodyPr wrap="square" lIns="0" tIns="0" rIns="0" bIns="0" rtlCol="0" anchor="t"/>
          <a:lstStyle/>
          <a:p>
            <a:pPr marL="0" indent="0">
              <a:buNone/>
            </a:pPr>
            <a:r>
              <a:rPr lang="en-US" sz="1400" dirty="0">
                <a:solidFill>
                  <a:schemeClr val="tx1"/>
                </a:solidFill>
              </a:rPr>
              <a:t>A dead battery can look like a calm driver</a:t>
            </a:r>
            <a:endParaRPr lang="en-US" sz="1400" dirty="0"/>
          </a:p>
        </p:txBody>
      </p:sp>
      <p:sp>
        <p:nvSpPr>
          <p:cNvPr id="18" name="Limit card 3"/>
          <p:cNvSpPr/>
          <p:nvPr/>
        </p:nvSpPr>
        <p:spPr>
          <a:xfrm>
            <a:off x="4114800" y="3749040"/>
            <a:ext cx="4572000" cy="868680"/>
          </a:xfrm>
          <a:prstGeom prst="roundRect">
            <a:avLst>
              <a:gd name="adj" fmla="val 8421"/>
            </a:avLst>
          </a:prstGeom>
          <a:solidFill>
            <a:schemeClr val="bg2"/>
          </a:solidFill>
          <a:ln w="12700">
            <a:solidFill>
              <a:schemeClr val="bg2"/>
            </a:solidFill>
            <a:prstDash val="solid"/>
          </a:ln>
        </p:spPr>
      </p:sp>
      <p:sp>
        <p:nvSpPr>
          <p:cNvPr id="19" name="Limit 3 circle"/>
          <p:cNvSpPr/>
          <p:nvPr/>
        </p:nvSpPr>
        <p:spPr>
          <a:xfrm>
            <a:off x="4297680" y="3913632"/>
            <a:ext cx="548640" cy="548640"/>
          </a:xfrm>
          <a:prstGeom prst="ellipse">
            <a:avLst/>
          </a:prstGeom>
          <a:solidFill>
            <a:schemeClr val="accent5"/>
          </a:solidFill>
          <a:ln w="12700">
            <a:solidFill>
              <a:schemeClr val="accent5"/>
            </a:solidFill>
            <a:prstDash val="solid"/>
          </a:ln>
        </p:spPr>
      </p:sp>
      <p:pic>
        <p:nvPicPr>
          <p:cNvPr id="20" name="Limit 3 icon" descr="preencoded.png"/>
          <p:cNvPicPr>
            <a:picLocks noChangeAspect="1"/>
          </p:cNvPicPr>
          <p:nvPr/>
        </p:nvPicPr>
        <p:blipFill>
          <a:blip r:embed="rId6"/>
          <a:stretch>
            <a:fillRect/>
          </a:stretch>
        </p:blipFill>
        <p:spPr>
          <a:xfrm>
            <a:off x="4429354" y="4045306"/>
            <a:ext cx="285293" cy="285293"/>
          </a:xfrm>
          <a:prstGeom prst="rect">
            <a:avLst/>
          </a:prstGeom>
        </p:spPr>
      </p:pic>
      <p:sp>
        <p:nvSpPr>
          <p:cNvPr id="21" name="Limit title 3"/>
          <p:cNvSpPr txBox="1"/>
          <p:nvPr/>
        </p:nvSpPr>
        <p:spPr>
          <a:xfrm>
            <a:off x="5029200" y="3858768"/>
            <a:ext cx="3520440" cy="274320"/>
          </a:xfrm>
          <a:prstGeom prst="rect">
            <a:avLst/>
          </a:prstGeom>
          <a:noFill/>
          <a:ln/>
        </p:spPr>
        <p:txBody>
          <a:bodyPr wrap="square" lIns="0" tIns="0" rIns="0" bIns="0" rtlCol="0" anchor="t"/>
          <a:lstStyle/>
          <a:p>
            <a:pPr marL="0" indent="0">
              <a:buNone/>
            </a:pPr>
            <a:r>
              <a:rPr lang="en-US" sz="1600" b="1" dirty="0">
                <a:solidFill>
                  <a:schemeClr val="tx2"/>
                </a:solidFill>
              </a:rPr>
              <a:t>Simulation only</a:t>
            </a:r>
            <a:endParaRPr lang="en-US" sz="1600" dirty="0"/>
          </a:p>
        </p:txBody>
      </p:sp>
      <p:sp>
        <p:nvSpPr>
          <p:cNvPr id="22" name="Limit text 3"/>
          <p:cNvSpPr txBox="1"/>
          <p:nvPr/>
        </p:nvSpPr>
        <p:spPr>
          <a:xfrm>
            <a:off x="5029200" y="4160520"/>
            <a:ext cx="3520440" cy="411480"/>
          </a:xfrm>
          <a:prstGeom prst="rect">
            <a:avLst/>
          </a:prstGeom>
          <a:noFill/>
          <a:ln/>
        </p:spPr>
        <p:txBody>
          <a:bodyPr wrap="square" lIns="0" tIns="0" rIns="0" bIns="0" rtlCol="0" anchor="t"/>
          <a:lstStyle/>
          <a:p>
            <a:pPr marL="0" indent="0">
              <a:buNone/>
            </a:pPr>
            <a:r>
              <a:rPr lang="en-US" sz="1400" dirty="0">
                <a:solidFill>
                  <a:schemeClr val="tx1"/>
                </a:solidFill>
              </a:rPr>
              <a:t>Real vehicle control needs ISO 26262 validation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Hardening comes before new features</a:t>
            </a:r>
            <a:endParaRPr lang="en-US" sz="3600" dirty="0"/>
          </a:p>
        </p:txBody>
      </p:sp>
      <p:sp>
        <p:nvSpPr>
          <p:cNvPr id="3" name="Timeline line"/>
          <p:cNvSpPr/>
          <p:nvPr/>
        </p:nvSpPr>
        <p:spPr>
          <a:xfrm>
            <a:off x="822960" y="2011680"/>
            <a:ext cx="7498080" cy="0"/>
          </a:xfrm>
          <a:prstGeom prst="line">
            <a:avLst/>
          </a:prstGeom>
          <a:noFill/>
          <a:ln w="38100">
            <a:solidFill>
              <a:srgbClr val="6B7280"/>
            </a:solidFill>
            <a:prstDash val="solid"/>
          </a:ln>
        </p:spPr>
      </p:sp>
      <p:sp>
        <p:nvSpPr>
          <p:cNvPr id="4" name="Phase node 0"/>
          <p:cNvSpPr/>
          <p:nvPr/>
        </p:nvSpPr>
        <p:spPr>
          <a:xfrm>
            <a:off x="1188720" y="1783080"/>
            <a:ext cx="457200" cy="457200"/>
          </a:xfrm>
          <a:prstGeom prst="ellipse">
            <a:avLst/>
          </a:prstGeom>
          <a:solidFill>
            <a:schemeClr val="accent2"/>
          </a:solidFill>
          <a:ln w="25400">
            <a:solidFill>
              <a:srgbClr val="FFFFFF"/>
            </a:solidFill>
            <a:prstDash val="solid"/>
          </a:ln>
        </p:spPr>
      </p:sp>
      <p:sp>
        <p:nvSpPr>
          <p:cNvPr id="5" name="Phase number 0"/>
          <p:cNvSpPr txBox="1"/>
          <p:nvPr/>
        </p:nvSpPr>
        <p:spPr>
          <a:xfrm>
            <a:off x="1188720" y="178308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0</a:t>
            </a:r>
            <a:endParaRPr lang="en-US" sz="1600" dirty="0"/>
          </a:p>
        </p:txBody>
      </p:sp>
      <p:sp>
        <p:nvSpPr>
          <p:cNvPr id="6" name="Phase card 0"/>
          <p:cNvSpPr/>
          <p:nvPr/>
        </p:nvSpPr>
        <p:spPr>
          <a:xfrm>
            <a:off x="457200" y="2468880"/>
            <a:ext cx="1920240" cy="1828800"/>
          </a:xfrm>
          <a:prstGeom prst="roundRect">
            <a:avLst>
              <a:gd name="adj" fmla="val 4000"/>
            </a:avLst>
          </a:prstGeom>
          <a:solidFill>
            <a:schemeClr val="bg2"/>
          </a:solidFill>
          <a:ln w="12700">
            <a:solidFill>
              <a:schemeClr val="bg2"/>
            </a:solidFill>
            <a:prstDash val="solid"/>
          </a:ln>
        </p:spPr>
      </p:sp>
      <p:sp>
        <p:nvSpPr>
          <p:cNvPr id="7" name="Phase title 0"/>
          <p:cNvSpPr txBox="1"/>
          <p:nvPr/>
        </p:nvSpPr>
        <p:spPr>
          <a:xfrm>
            <a:off x="594360" y="2578608"/>
            <a:ext cx="1645920" cy="292608"/>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Prototype</a:t>
            </a:r>
            <a:endParaRPr lang="en-US" sz="1800" dirty="0"/>
          </a:p>
        </p:txBody>
      </p:sp>
      <p:sp>
        <p:nvSpPr>
          <p:cNvPr id="8" name="Phase items 0"/>
          <p:cNvSpPr txBox="1"/>
          <p:nvPr/>
        </p:nvSpPr>
        <p:spPr>
          <a:xfrm>
            <a:off x="594360" y="2926080"/>
            <a:ext cx="1691640" cy="13258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Intake and scoring</a:t>
            </a:r>
            <a:endParaRPr lang="en-US" sz="1400" dirty="0"/>
          </a:p>
          <a:p>
            <a:pPr marL="342900" indent="-342900">
              <a:spcAft>
                <a:spcPts val="300"/>
              </a:spcAft>
              <a:buSzPct val="100000"/>
              <a:buChar char="•"/>
            </a:pPr>
            <a:r>
              <a:rPr lang="en-US" sz="1400" dirty="0">
                <a:solidFill>
                  <a:schemeClr val="tx1"/>
                </a:solidFill>
              </a:rPr>
              <a:t>Agent, guardrails</a:t>
            </a:r>
            <a:endParaRPr lang="en-US" sz="1400" dirty="0"/>
          </a:p>
          <a:p>
            <a:pPr marL="342900" indent="-342900">
              <a:spcAft>
                <a:spcPts val="300"/>
              </a:spcAft>
              <a:buSzPct val="100000"/>
              <a:buChar char="•"/>
            </a:pPr>
            <a:r>
              <a:rPr lang="en-US" sz="1400" dirty="0">
                <a:solidFill>
                  <a:schemeClr val="tx1"/>
                </a:solidFill>
              </a:rPr>
              <a:t>Evals, simulator</a:t>
            </a:r>
            <a:endParaRPr lang="en-US" sz="1400" dirty="0"/>
          </a:p>
        </p:txBody>
      </p:sp>
      <p:sp>
        <p:nvSpPr>
          <p:cNvPr id="9" name="Phase node 1"/>
          <p:cNvSpPr/>
          <p:nvPr/>
        </p:nvSpPr>
        <p:spPr>
          <a:xfrm>
            <a:off x="3291840" y="1783080"/>
            <a:ext cx="457200" cy="457200"/>
          </a:xfrm>
          <a:prstGeom prst="ellipse">
            <a:avLst/>
          </a:prstGeom>
          <a:solidFill>
            <a:schemeClr val="accent1"/>
          </a:solidFill>
          <a:ln w="25400">
            <a:solidFill>
              <a:srgbClr val="FFFFFF"/>
            </a:solidFill>
            <a:prstDash val="solid"/>
          </a:ln>
        </p:spPr>
      </p:sp>
      <p:sp>
        <p:nvSpPr>
          <p:cNvPr id="10" name="Phase number 1"/>
          <p:cNvSpPr txBox="1"/>
          <p:nvPr/>
        </p:nvSpPr>
        <p:spPr>
          <a:xfrm>
            <a:off x="3291840" y="1783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1" name="Phase card 1"/>
          <p:cNvSpPr/>
          <p:nvPr/>
        </p:nvSpPr>
        <p:spPr>
          <a:xfrm>
            <a:off x="2560320" y="2468880"/>
            <a:ext cx="1920240" cy="1828800"/>
          </a:xfrm>
          <a:prstGeom prst="roundRect">
            <a:avLst>
              <a:gd name="adj" fmla="val 4000"/>
            </a:avLst>
          </a:prstGeom>
          <a:solidFill>
            <a:schemeClr val="bg2"/>
          </a:solidFill>
          <a:ln w="12700">
            <a:solidFill>
              <a:schemeClr val="bg2"/>
            </a:solidFill>
            <a:prstDash val="solid"/>
          </a:ln>
        </p:spPr>
      </p:sp>
      <p:sp>
        <p:nvSpPr>
          <p:cNvPr id="12" name="Phase title 1"/>
          <p:cNvSpPr txBox="1"/>
          <p:nvPr/>
        </p:nvSpPr>
        <p:spPr>
          <a:xfrm>
            <a:off x="2697480" y="2578608"/>
            <a:ext cx="1645920" cy="292608"/>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Harden</a:t>
            </a:r>
            <a:endParaRPr lang="en-US" sz="1800" dirty="0"/>
          </a:p>
        </p:txBody>
      </p:sp>
      <p:sp>
        <p:nvSpPr>
          <p:cNvPr id="13" name="Phase items 1"/>
          <p:cNvSpPr txBox="1"/>
          <p:nvPr/>
        </p:nvSpPr>
        <p:spPr>
          <a:xfrm>
            <a:off x="2697480" y="2926080"/>
            <a:ext cx="1691640" cy="13258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Dead-man's alert</a:t>
            </a:r>
            <a:endParaRPr lang="en-US" sz="1400" dirty="0"/>
          </a:p>
          <a:p>
            <a:pPr marL="342900" indent="-342900">
              <a:spcAft>
                <a:spcPts val="300"/>
              </a:spcAft>
              <a:buSzPct val="100000"/>
              <a:buChar char="•"/>
            </a:pPr>
            <a:r>
              <a:rPr lang="en-US" sz="1400" dirty="0">
                <a:solidFill>
                  <a:schemeClr val="tx1"/>
                </a:solidFill>
              </a:rPr>
              <a:t>Confidence gate</a:t>
            </a:r>
            <a:endParaRPr lang="en-US" sz="1400" dirty="0"/>
          </a:p>
          <a:p>
            <a:pPr marL="342900" indent="-342900">
              <a:spcAft>
                <a:spcPts val="300"/>
              </a:spcAft>
              <a:buSzPct val="100000"/>
              <a:buChar char="•"/>
            </a:pPr>
            <a:r>
              <a:rPr lang="en-US" sz="1400" dirty="0">
                <a:solidFill>
                  <a:schemeClr val="tx1"/>
                </a:solidFill>
              </a:rPr>
              <a:t>Noise filter</a:t>
            </a:r>
            <a:endParaRPr lang="en-US" sz="1400" dirty="0"/>
          </a:p>
          <a:p>
            <a:pPr marL="342900" indent="-342900">
              <a:spcAft>
                <a:spcPts val="300"/>
              </a:spcAft>
              <a:buSzPct val="100000"/>
              <a:buChar char="•"/>
            </a:pPr>
            <a:r>
              <a:rPr lang="en-US" sz="1400" dirty="0">
                <a:solidFill>
                  <a:schemeClr val="tx1"/>
                </a:solidFill>
              </a:rPr>
              <a:t>Notification retries</a:t>
            </a:r>
            <a:endParaRPr lang="en-US" sz="1400" dirty="0"/>
          </a:p>
        </p:txBody>
      </p:sp>
      <p:sp>
        <p:nvSpPr>
          <p:cNvPr id="14" name="Phase node 2"/>
          <p:cNvSpPr/>
          <p:nvPr/>
        </p:nvSpPr>
        <p:spPr>
          <a:xfrm>
            <a:off x="5394960" y="1783080"/>
            <a:ext cx="457200" cy="457200"/>
          </a:xfrm>
          <a:prstGeom prst="ellipse">
            <a:avLst/>
          </a:prstGeom>
          <a:solidFill>
            <a:schemeClr val="accent5"/>
          </a:solidFill>
          <a:ln w="25400">
            <a:solidFill>
              <a:srgbClr val="FFFFFF"/>
            </a:solidFill>
            <a:prstDash val="solid"/>
          </a:ln>
        </p:spPr>
      </p:sp>
      <p:sp>
        <p:nvSpPr>
          <p:cNvPr id="15" name="Phase number 2"/>
          <p:cNvSpPr txBox="1"/>
          <p:nvPr/>
        </p:nvSpPr>
        <p:spPr>
          <a:xfrm>
            <a:off x="5394960" y="1783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6" name="Phase card 2"/>
          <p:cNvSpPr/>
          <p:nvPr/>
        </p:nvSpPr>
        <p:spPr>
          <a:xfrm>
            <a:off x="4663440" y="2468880"/>
            <a:ext cx="1920240" cy="1828800"/>
          </a:xfrm>
          <a:prstGeom prst="roundRect">
            <a:avLst>
              <a:gd name="adj" fmla="val 4000"/>
            </a:avLst>
          </a:prstGeom>
          <a:solidFill>
            <a:schemeClr val="bg2"/>
          </a:solidFill>
          <a:ln w="12700">
            <a:solidFill>
              <a:schemeClr val="bg2"/>
            </a:solidFill>
            <a:prstDash val="solid"/>
          </a:ln>
        </p:spPr>
      </p:sp>
      <p:sp>
        <p:nvSpPr>
          <p:cNvPr id="17" name="Phase title 2"/>
          <p:cNvSpPr txBox="1"/>
          <p:nvPr/>
        </p:nvSpPr>
        <p:spPr>
          <a:xfrm>
            <a:off x="4800600" y="2578608"/>
            <a:ext cx="1645920" cy="292608"/>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Validate</a:t>
            </a:r>
            <a:endParaRPr lang="en-US" sz="1800" dirty="0"/>
          </a:p>
        </p:txBody>
      </p:sp>
      <p:sp>
        <p:nvSpPr>
          <p:cNvPr id="18" name="Phase items 2"/>
          <p:cNvSpPr txBox="1"/>
          <p:nvPr/>
        </p:nvSpPr>
        <p:spPr>
          <a:xfrm>
            <a:off x="4800600" y="2926080"/>
            <a:ext cx="1691640" cy="13258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Replay evals</a:t>
            </a:r>
            <a:endParaRPr lang="en-US" sz="1400" dirty="0"/>
          </a:p>
          <a:p>
            <a:pPr marL="342900" indent="-342900">
              <a:spcAft>
                <a:spcPts val="300"/>
              </a:spcAft>
              <a:buSzPct val="100000"/>
              <a:buChar char="•"/>
            </a:pPr>
            <a:r>
              <a:rPr lang="en-US" sz="1400" dirty="0">
                <a:solidFill>
                  <a:schemeClr val="tx1"/>
                </a:solidFill>
              </a:rPr>
              <a:t>Skin tone, motion</a:t>
            </a:r>
            <a:endParaRPr lang="en-US" sz="1400" dirty="0"/>
          </a:p>
          <a:p>
            <a:pPr marL="342900" indent="-342900">
              <a:spcAft>
                <a:spcPts val="300"/>
              </a:spcAft>
              <a:buSzPct val="100000"/>
              <a:buChar char="•"/>
            </a:pPr>
            <a:r>
              <a:rPr lang="en-US" sz="1400" dirty="0">
                <a:solidFill>
                  <a:schemeClr val="tx1"/>
                </a:solidFill>
              </a:rPr>
              <a:t>Watch relay</a:t>
            </a:r>
            <a:endParaRPr lang="en-US" sz="1400" dirty="0"/>
          </a:p>
        </p:txBody>
      </p:sp>
      <p:sp>
        <p:nvSpPr>
          <p:cNvPr id="19" name="Phase node 3"/>
          <p:cNvSpPr/>
          <p:nvPr/>
        </p:nvSpPr>
        <p:spPr>
          <a:xfrm>
            <a:off x="7498080" y="1783080"/>
            <a:ext cx="457200" cy="457200"/>
          </a:xfrm>
          <a:prstGeom prst="ellipse">
            <a:avLst/>
          </a:prstGeom>
          <a:solidFill>
            <a:schemeClr val="accent5"/>
          </a:solidFill>
          <a:ln w="25400">
            <a:solidFill>
              <a:srgbClr val="FFFFFF"/>
            </a:solidFill>
            <a:prstDash val="solid"/>
          </a:ln>
        </p:spPr>
      </p:sp>
      <p:sp>
        <p:nvSpPr>
          <p:cNvPr id="20" name="Phase number 3"/>
          <p:cNvSpPr txBox="1"/>
          <p:nvPr/>
        </p:nvSpPr>
        <p:spPr>
          <a:xfrm>
            <a:off x="7498080" y="1783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1" name="Phase card 3"/>
          <p:cNvSpPr/>
          <p:nvPr/>
        </p:nvSpPr>
        <p:spPr>
          <a:xfrm>
            <a:off x="6766560" y="2468880"/>
            <a:ext cx="1920240" cy="1828800"/>
          </a:xfrm>
          <a:prstGeom prst="roundRect">
            <a:avLst>
              <a:gd name="adj" fmla="val 4000"/>
            </a:avLst>
          </a:prstGeom>
          <a:solidFill>
            <a:schemeClr val="bg2"/>
          </a:solidFill>
          <a:ln w="12700">
            <a:solidFill>
              <a:schemeClr val="bg2"/>
            </a:solidFill>
            <a:prstDash val="solid"/>
          </a:ln>
        </p:spPr>
      </p:sp>
      <p:sp>
        <p:nvSpPr>
          <p:cNvPr id="22" name="Phase title 3"/>
          <p:cNvSpPr txBox="1"/>
          <p:nvPr/>
        </p:nvSpPr>
        <p:spPr>
          <a:xfrm>
            <a:off x="6903720" y="2578608"/>
            <a:ext cx="1645920" cy="292608"/>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Extend</a:t>
            </a:r>
            <a:endParaRPr lang="en-US" sz="1800" dirty="0"/>
          </a:p>
        </p:txBody>
      </p:sp>
      <p:sp>
        <p:nvSpPr>
          <p:cNvPr id="23" name="Phase items 3"/>
          <p:cNvSpPr txBox="1"/>
          <p:nvPr/>
        </p:nvSpPr>
        <p:spPr>
          <a:xfrm>
            <a:off x="6903720" y="2926080"/>
            <a:ext cx="1691640" cy="13258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Camera check</a:t>
            </a:r>
            <a:endParaRPr lang="en-US" sz="1400" dirty="0"/>
          </a:p>
          <a:p>
            <a:pPr marL="342900" indent="-342900">
              <a:spcAft>
                <a:spcPts val="300"/>
              </a:spcAft>
              <a:buSzPct val="100000"/>
              <a:buChar char="•"/>
            </a:pPr>
            <a:r>
              <a:rPr lang="en-US" sz="1400" dirty="0">
                <a:solidFill>
                  <a:schemeClr val="tx1"/>
                </a:solidFill>
              </a:rPr>
              <a:t>Learned model</a:t>
            </a:r>
            <a:endParaRPr lang="en-US" sz="1400" dirty="0"/>
          </a:p>
          <a:p>
            <a:pPr marL="342900" indent="-342900">
              <a:spcAft>
                <a:spcPts val="300"/>
              </a:spcAft>
              <a:buSzPct val="100000"/>
              <a:buChar char="•"/>
            </a:pPr>
            <a:r>
              <a:rPr lang="en-US" sz="1400" dirty="0">
                <a:solidFill>
                  <a:schemeClr val="tx1"/>
                </a:solidFill>
              </a:rPr>
              <a:t>Driver baselines</a:t>
            </a:r>
            <a:endParaRPr lang="en-US" sz="1400" dirty="0"/>
          </a:p>
        </p:txBody>
      </p:sp>
      <p:sp>
        <p:nvSpPr>
          <p:cNvPr id="24" name="Gate 1"/>
          <p:cNvSpPr/>
          <p:nvPr/>
        </p:nvSpPr>
        <p:spPr>
          <a:xfrm>
            <a:off x="4389120" y="1828800"/>
            <a:ext cx="365760" cy="365760"/>
          </a:xfrm>
          <a:prstGeom prst="diamond">
            <a:avLst/>
          </a:prstGeom>
          <a:solidFill>
            <a:schemeClr val="tx2"/>
          </a:solidFill>
          <a:ln w="25400">
            <a:solidFill>
              <a:srgbClr val="FFFFFF"/>
            </a:solidFill>
            <a:prstDash val="solid"/>
          </a:ln>
        </p:spPr>
      </p:sp>
      <p:sp>
        <p:nvSpPr>
          <p:cNvPr id="25" name="Gate label 1"/>
          <p:cNvSpPr txBox="1"/>
          <p:nvPr/>
        </p:nvSpPr>
        <p:spPr>
          <a:xfrm>
            <a:off x="3840480" y="1417320"/>
            <a:ext cx="1463040" cy="384048"/>
          </a:xfrm>
          <a:prstGeom prst="rect">
            <a:avLst/>
          </a:prstGeom>
          <a:noFill/>
          <a:ln/>
        </p:spPr>
        <p:txBody>
          <a:bodyPr wrap="square" lIns="0" tIns="0" rIns="0" bIns="0" rtlCol="0" anchor="t"/>
          <a:lstStyle/>
          <a:p>
            <a:pPr marL="0" indent="0" algn="ctr">
              <a:buNone/>
            </a:pPr>
            <a:r>
              <a:rPr lang="en-US" sz="1100" b="1" dirty="0">
                <a:solidFill>
                  <a:schemeClr val="tx1"/>
                </a:solidFill>
              </a:rPr>
              <a:t>Gate 1</a:t>
            </a:r>
            <a:endParaRPr lang="en-US" sz="1100" dirty="0"/>
          </a:p>
          <a:p>
            <a:pPr marL="0" indent="0" algn="ctr">
              <a:buNone/>
            </a:pPr>
            <a:r>
              <a:rPr lang="en-US" sz="1100" dirty="0">
                <a:solidFill>
                  <a:schemeClr val="tx1"/>
                </a:solidFill>
              </a:rPr>
              <a:t>P0 built, evals green</a:t>
            </a:r>
            <a:endParaRPr lang="en-US" sz="1100" dirty="0"/>
          </a:p>
        </p:txBody>
      </p:sp>
      <p:sp>
        <p:nvSpPr>
          <p:cNvPr id="26" name="Gate 2"/>
          <p:cNvSpPr/>
          <p:nvPr/>
        </p:nvSpPr>
        <p:spPr>
          <a:xfrm>
            <a:off x="6492240" y="1828800"/>
            <a:ext cx="365760" cy="365760"/>
          </a:xfrm>
          <a:prstGeom prst="diamond">
            <a:avLst/>
          </a:prstGeom>
          <a:solidFill>
            <a:schemeClr val="tx2"/>
          </a:solidFill>
          <a:ln w="25400">
            <a:solidFill>
              <a:srgbClr val="FFFFFF"/>
            </a:solidFill>
            <a:prstDash val="solid"/>
          </a:ln>
        </p:spPr>
      </p:sp>
      <p:sp>
        <p:nvSpPr>
          <p:cNvPr id="27" name="Gate label 2"/>
          <p:cNvSpPr txBox="1"/>
          <p:nvPr/>
        </p:nvSpPr>
        <p:spPr>
          <a:xfrm>
            <a:off x="5943600" y="1417320"/>
            <a:ext cx="1463040" cy="384048"/>
          </a:xfrm>
          <a:prstGeom prst="rect">
            <a:avLst/>
          </a:prstGeom>
          <a:noFill/>
          <a:ln/>
        </p:spPr>
        <p:txBody>
          <a:bodyPr wrap="square" lIns="0" tIns="0" rIns="0" bIns="0" rtlCol="0" anchor="t"/>
          <a:lstStyle/>
          <a:p>
            <a:pPr marL="0" indent="0" algn="ctr">
              <a:buNone/>
            </a:pPr>
            <a:r>
              <a:rPr lang="en-US" sz="1100" b="1" dirty="0">
                <a:solidFill>
                  <a:schemeClr val="tx1"/>
                </a:solidFill>
              </a:rPr>
              <a:t>Gate 2</a:t>
            </a:r>
            <a:endParaRPr lang="en-US" sz="1100" dirty="0"/>
          </a:p>
          <a:p>
            <a:pPr marL="0" indent="0" algn="ctr">
              <a:buNone/>
            </a:pPr>
            <a:r>
              <a:rPr lang="en-US" sz="1100" dirty="0">
                <a:solidFill>
                  <a:schemeClr val="tx1"/>
                </a:solidFill>
              </a:rPr>
              <a:t>Targets met on data</a:t>
            </a:r>
            <a:endParaRPr lang="en-US" sz="1100" dirty="0"/>
          </a:p>
        </p:txBody>
      </p:sp>
      <p:sp>
        <p:nvSpPr>
          <p:cNvPr id="28" name="Roadmap note"/>
          <p:cNvSpPr txBox="1"/>
          <p:nvPr/>
        </p:nvSpPr>
        <p:spPr>
          <a:xfrm>
            <a:off x="457200" y="4407408"/>
            <a:ext cx="7589520" cy="274320"/>
          </a:xfrm>
          <a:prstGeom prst="rect">
            <a:avLst/>
          </a:prstGeom>
          <a:noFill/>
          <a:ln/>
        </p:spPr>
        <p:txBody>
          <a:bodyPr wrap="square" lIns="0" tIns="0" rIns="0" bIns="0" rtlCol="0" anchor="t"/>
          <a:lstStyle/>
          <a:p>
            <a:pPr marL="0" indent="0">
              <a:buNone/>
            </a:pPr>
            <a:r>
              <a:rPr lang="en-US" sz="1200" dirty="0">
                <a:solidFill>
                  <a:schemeClr val="accent4"/>
                </a:solidFill>
              </a:rPr>
              <a:t>No real-vehicle use without functional-safety validation (ISO 26262) and regulatory approval.</a:t>
            </a:r>
            <a:endParaRPr lang="en-US" sz="12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1005840"/>
          </a:xfrm>
          <a:prstGeom prst="rect">
            <a:avLst/>
          </a:prstGeom>
          <a:noFill/>
          <a:ln/>
        </p:spPr>
        <p:txBody>
          <a:bodyPr wrap="square" lIns="0" tIns="0" rIns="0" bIns="0" rtlCol="0" anchor="t"/>
          <a:lstStyle/>
          <a:p>
            <a:pPr marL="0" indent="0" algn="l">
              <a:buNone/>
            </a:pPr>
            <a:r>
              <a:rPr lang="en-US" sz="3600" b="1" dirty="0">
                <a:solidFill>
                  <a:schemeClr val="tx2"/>
                </a:solidFill>
              </a:rPr>
              <a:t>Finishing the roadmap: about $91K</a:t>
            </a:r>
            <a:endParaRPr lang="en-US" sz="3600" dirty="0"/>
          </a:p>
        </p:txBody>
      </p:sp>
      <p:graphicFrame>
        <p:nvGraphicFramePr>
          <p:cNvPr id="3" name="Cost chart"/>
          <p:cNvGraphicFramePr/>
          <p:nvPr/>
        </p:nvGraphicFramePr>
        <p:xfrm>
          <a:off x="457200" y="1463040"/>
          <a:ext cx="47548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4" name="Cost stat card 1"/>
          <p:cNvSpPr/>
          <p:nvPr/>
        </p:nvSpPr>
        <p:spPr>
          <a:xfrm>
            <a:off x="5486400" y="1554480"/>
            <a:ext cx="3200400" cy="868680"/>
          </a:xfrm>
          <a:prstGeom prst="roundRect">
            <a:avLst>
              <a:gd name="adj" fmla="val 8421"/>
            </a:avLst>
          </a:prstGeom>
          <a:solidFill>
            <a:schemeClr val="bg2"/>
          </a:solidFill>
          <a:ln w="12700">
            <a:solidFill>
              <a:schemeClr val="bg2"/>
            </a:solidFill>
            <a:prstDash val="solid"/>
          </a:ln>
        </p:spPr>
      </p:sp>
      <p:sp>
        <p:nvSpPr>
          <p:cNvPr id="5" name="Cost number 1"/>
          <p:cNvSpPr txBox="1"/>
          <p:nvPr/>
        </p:nvSpPr>
        <p:spPr>
          <a:xfrm>
            <a:off x="5669280" y="1554480"/>
            <a:ext cx="1371600" cy="868680"/>
          </a:xfrm>
          <a:prstGeom prst="rect">
            <a:avLst/>
          </a:prstGeom>
          <a:noFill/>
          <a:ln/>
        </p:spPr>
        <p:txBody>
          <a:bodyPr wrap="square" lIns="0" tIns="0" rIns="0" bIns="0" rtlCol="0" anchor="ctr"/>
          <a:lstStyle/>
          <a:p>
            <a:pPr marL="0" indent="0">
              <a:buNone/>
            </a:pPr>
            <a:r>
              <a:rPr lang="en-US" sz="3000" b="1" dirty="0">
                <a:solidFill>
                  <a:schemeClr val="accent6"/>
                </a:solidFill>
                <a:latin typeface="Cambria" pitchFamily="34" charset="0"/>
                <a:ea typeface="Cambria" pitchFamily="34" charset="-122"/>
                <a:cs typeface="Cambria" pitchFamily="34" charset="-120"/>
              </a:rPr>
              <a:t>95%</a:t>
            </a:r>
            <a:endParaRPr lang="en-US" sz="3000" dirty="0"/>
          </a:p>
        </p:txBody>
      </p:sp>
      <p:sp>
        <p:nvSpPr>
          <p:cNvPr id="6" name="Cost label 1"/>
          <p:cNvSpPr txBox="1"/>
          <p:nvPr/>
        </p:nvSpPr>
        <p:spPr>
          <a:xfrm>
            <a:off x="7086600" y="1554480"/>
            <a:ext cx="1508760" cy="868680"/>
          </a:xfrm>
          <a:prstGeom prst="rect">
            <a:avLst/>
          </a:prstGeom>
          <a:noFill/>
          <a:ln/>
        </p:spPr>
        <p:txBody>
          <a:bodyPr wrap="square" lIns="0" tIns="0" rIns="0" bIns="0" rtlCol="0" anchor="ctr"/>
          <a:lstStyle/>
          <a:p>
            <a:pPr marL="0" indent="0">
              <a:buNone/>
            </a:pPr>
            <a:r>
              <a:rPr lang="en-US" sz="1400" dirty="0">
                <a:solidFill>
                  <a:schemeClr val="tx1"/>
                </a:solidFill>
              </a:rPr>
              <a:t>of the base build is people time</a:t>
            </a:r>
            <a:endParaRPr lang="en-US" sz="1400" dirty="0"/>
          </a:p>
        </p:txBody>
      </p:sp>
      <p:sp>
        <p:nvSpPr>
          <p:cNvPr id="7" name="Cost stat card 2"/>
          <p:cNvSpPr/>
          <p:nvPr/>
        </p:nvSpPr>
        <p:spPr>
          <a:xfrm>
            <a:off x="5486400" y="2651760"/>
            <a:ext cx="3200400" cy="868680"/>
          </a:xfrm>
          <a:prstGeom prst="roundRect">
            <a:avLst>
              <a:gd name="adj" fmla="val 8421"/>
            </a:avLst>
          </a:prstGeom>
          <a:solidFill>
            <a:schemeClr val="bg2"/>
          </a:solidFill>
          <a:ln w="12700">
            <a:solidFill>
              <a:schemeClr val="bg2"/>
            </a:solidFill>
            <a:prstDash val="solid"/>
          </a:ln>
        </p:spPr>
      </p:sp>
      <p:sp>
        <p:nvSpPr>
          <p:cNvPr id="8" name="Cost number 2"/>
          <p:cNvSpPr txBox="1"/>
          <p:nvPr/>
        </p:nvSpPr>
        <p:spPr>
          <a:xfrm>
            <a:off x="5669280" y="2651760"/>
            <a:ext cx="1371600" cy="868680"/>
          </a:xfrm>
          <a:prstGeom prst="rect">
            <a:avLst/>
          </a:prstGeom>
          <a:noFill/>
          <a:ln/>
        </p:spPr>
        <p:txBody>
          <a:bodyPr wrap="square" lIns="0" tIns="0" rIns="0" bIns="0" rtlCol="0" anchor="ctr"/>
          <a:lstStyle/>
          <a:p>
            <a:pPr marL="0" indent="0">
              <a:buNone/>
            </a:pPr>
            <a:r>
              <a:rPr lang="en-US" sz="3000" b="1" dirty="0">
                <a:solidFill>
                  <a:schemeClr val="accent6"/>
                </a:solidFill>
                <a:latin typeface="Cambria" pitchFamily="34" charset="0"/>
                <a:ea typeface="Cambria" pitchFamily="34" charset="-122"/>
                <a:cs typeface="Cambria" pitchFamily="34" charset="-120"/>
              </a:rPr>
              <a:t>$8.9K</a:t>
            </a:r>
            <a:endParaRPr lang="en-US" sz="3000" dirty="0"/>
          </a:p>
        </p:txBody>
      </p:sp>
      <p:sp>
        <p:nvSpPr>
          <p:cNvPr id="9" name="Cost label 2"/>
          <p:cNvSpPr txBox="1"/>
          <p:nvPr/>
        </p:nvSpPr>
        <p:spPr>
          <a:xfrm>
            <a:off x="7086600" y="2651760"/>
            <a:ext cx="1508760" cy="868680"/>
          </a:xfrm>
          <a:prstGeom prst="rect">
            <a:avLst/>
          </a:prstGeom>
          <a:noFill/>
          <a:ln/>
        </p:spPr>
        <p:txBody>
          <a:bodyPr wrap="square" lIns="0" tIns="0" rIns="0" bIns="0" rtlCol="0" anchor="ctr"/>
          <a:lstStyle/>
          <a:p>
            <a:pPr marL="0" indent="0">
              <a:buNone/>
            </a:pPr>
            <a:r>
              <a:rPr lang="en-US" sz="1400" dirty="0">
                <a:solidFill>
                  <a:schemeClr val="tx1"/>
                </a:solidFill>
              </a:rPr>
              <a:t>a year to run (Base)</a:t>
            </a:r>
            <a:endParaRPr lang="en-US" sz="1400" dirty="0"/>
          </a:p>
        </p:txBody>
      </p:sp>
      <p:sp>
        <p:nvSpPr>
          <p:cNvPr id="10" name="Cost stat card 3"/>
          <p:cNvSpPr/>
          <p:nvPr/>
        </p:nvSpPr>
        <p:spPr>
          <a:xfrm>
            <a:off x="5486400" y="3749040"/>
            <a:ext cx="3200400" cy="868680"/>
          </a:xfrm>
          <a:prstGeom prst="roundRect">
            <a:avLst>
              <a:gd name="adj" fmla="val 8421"/>
            </a:avLst>
          </a:prstGeom>
          <a:solidFill>
            <a:schemeClr val="bg2"/>
          </a:solidFill>
          <a:ln w="12700">
            <a:solidFill>
              <a:schemeClr val="bg2"/>
            </a:solidFill>
            <a:prstDash val="solid"/>
          </a:ln>
        </p:spPr>
      </p:sp>
      <p:sp>
        <p:nvSpPr>
          <p:cNvPr id="11" name="Cost number 3"/>
          <p:cNvSpPr txBox="1"/>
          <p:nvPr/>
        </p:nvSpPr>
        <p:spPr>
          <a:xfrm>
            <a:off x="5669280" y="3749040"/>
            <a:ext cx="1371600" cy="868680"/>
          </a:xfrm>
          <a:prstGeom prst="rect">
            <a:avLst/>
          </a:prstGeom>
          <a:noFill/>
          <a:ln/>
        </p:spPr>
        <p:txBody>
          <a:bodyPr wrap="square" lIns="0" tIns="0" rIns="0" bIns="0" rtlCol="0" anchor="ctr"/>
          <a:lstStyle/>
          <a:p>
            <a:pPr marL="0" indent="0">
              <a:buNone/>
            </a:pPr>
            <a:r>
              <a:rPr lang="en-US" sz="3000" b="1" dirty="0">
                <a:solidFill>
                  <a:schemeClr val="accent6"/>
                </a:solidFill>
                <a:latin typeface="Cambria" pitchFamily="34" charset="0"/>
                <a:ea typeface="Cambria" pitchFamily="34" charset="-122"/>
                <a:cs typeface="Cambria" pitchFamily="34" charset="-120"/>
              </a:rPr>
              <a:t>&lt;$4K</a:t>
            </a:r>
            <a:endParaRPr lang="en-US" sz="3000" dirty="0"/>
          </a:p>
        </p:txBody>
      </p:sp>
      <p:sp>
        <p:nvSpPr>
          <p:cNvPr id="12" name="Cost label 3"/>
          <p:cNvSpPr txBox="1"/>
          <p:nvPr/>
        </p:nvSpPr>
        <p:spPr>
          <a:xfrm>
            <a:off x="7086600" y="3749040"/>
            <a:ext cx="1508760" cy="868680"/>
          </a:xfrm>
          <a:prstGeom prst="rect">
            <a:avLst/>
          </a:prstGeom>
          <a:noFill/>
          <a:ln/>
        </p:spPr>
        <p:txBody>
          <a:bodyPr wrap="square" lIns="0" tIns="0" rIns="0" bIns="0" rtlCol="0" anchor="ctr"/>
          <a:lstStyle/>
          <a:p>
            <a:pPr marL="0" indent="0">
              <a:buNone/>
            </a:pPr>
            <a:r>
              <a:rPr lang="en-US" sz="1400" dirty="0">
                <a:solidFill>
                  <a:schemeClr val="tx1"/>
                </a:solidFill>
              </a:rPr>
              <a:t>hardware, SMS and tools (Base)</a:t>
            </a:r>
            <a:endParaRPr lang="en-US" sz="1400" dirty="0"/>
          </a:p>
        </p:txBody>
      </p:sp>
      <p:sp>
        <p:nvSpPr>
          <p:cNvPr id="13" name="Cost note"/>
          <p:cNvSpPr txBox="1"/>
          <p:nvPr/>
        </p:nvSpPr>
        <p:spPr>
          <a:xfrm>
            <a:off x="457200" y="4617720"/>
            <a:ext cx="7589520" cy="201168"/>
          </a:xfrm>
          <a:prstGeom prst="rect">
            <a:avLst/>
          </a:prstGeom>
          <a:noFill/>
          <a:ln/>
        </p:spPr>
        <p:txBody>
          <a:bodyPr wrap="square" lIns="0" tIns="0" rIns="0" bIns="0" rtlCol="0" anchor="t"/>
          <a:lstStyle/>
          <a:p>
            <a:pPr marL="0" indent="0">
              <a:buNone/>
            </a:pPr>
            <a:r>
              <a:rPr lang="en-US" sz="1000" dirty="0">
                <a:solidFill>
                  <a:schemeClr val="accent4"/>
                </a:solidFill>
              </a:rPr>
              <a:t>Hours and rates are assumptions; prices from retailer and Twilio pages.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822960"/>
            <a:ext cx="4572000" cy="1371600"/>
          </a:xfrm>
          <a:prstGeom prst="rect">
            <a:avLst/>
          </a:prstGeom>
          <a:noFill/>
          <a:ln/>
        </p:spPr>
        <p:txBody>
          <a:bodyPr wrap="square" lIns="0" tIns="0" rIns="0" bIns="0" rtlCol="0" anchor="t"/>
          <a:lstStyle/>
          <a:p>
            <a:pPr marL="0" indent="0" algn="l">
              <a:buNone/>
            </a:pPr>
            <a:r>
              <a:rPr lang="en-US" sz="3200" b="1" dirty="0">
                <a:solidFill>
                  <a:schemeClr val="bg1"/>
                </a:solidFill>
              </a:rPr>
              <a:t>North Star:</a:t>
            </a:r>
            <a:endParaRPr lang="en-US" sz="3200" dirty="0"/>
          </a:p>
          <a:p>
            <a:pPr marL="0" indent="0" algn="l">
              <a:buNone/>
            </a:pPr>
            <a:r>
              <a:rPr lang="en-US" sz="3200" b="1" dirty="0">
                <a:solidFill>
                  <a:schemeClr val="bg1"/>
                </a:solidFill>
              </a:rPr>
              <a:t>safe-response rate</a:t>
            </a:r>
            <a:endParaRPr lang="en-US" sz="3200" dirty="0"/>
          </a:p>
        </p:txBody>
      </p:sp>
      <p:sp>
        <p:nvSpPr>
          <p:cNvPr id="3" name="Text 1"/>
          <p:cNvSpPr>
            <a:spLocks noGrp="1"/>
          </p:cNvSpPr>
          <p:nvPr>
            <p:ph type="body" idx="102" hasCustomPrompt="1"/>
          </p:nvPr>
        </p:nvSpPr>
        <p:spPr>
          <a:xfrm>
            <a:off x="548640" y="2377440"/>
            <a:ext cx="4297680" cy="1554480"/>
          </a:xfrm>
          <a:prstGeom prst="rect">
            <a:avLst/>
          </a:prstGeom>
          <a:noFill/>
          <a:ln/>
        </p:spPr>
        <p:txBody>
          <a:bodyPr wrap="square" lIns="0" tIns="0" rIns="0" bIns="0" rtlCol="0" anchor="t"/>
          <a:lstStyle/>
          <a:p>
            <a:pPr marL="0" indent="0" algn="l">
              <a:buNone/>
            </a:pPr>
            <a:r>
              <a:rPr lang="en-US" sz="1800" dirty="0">
                <a:solidFill>
                  <a:schemeClr val="bg2"/>
                </a:solidFill>
              </a:rPr>
              <a:t>How often the car starts slowing within 6 seconds of sustained distress, with zero false interventions on calm sessions.</a:t>
            </a:r>
            <a:endParaRPr lang="en-US" sz="1800" dirty="0"/>
          </a:p>
        </p:txBody>
      </p:sp>
      <p:sp>
        <p:nvSpPr>
          <p:cNvPr id="4" name="Decisions heading"/>
          <p:cNvSpPr txBox="1"/>
          <p:nvPr/>
        </p:nvSpPr>
        <p:spPr>
          <a:xfrm>
            <a:off x="5486400" y="822960"/>
            <a:ext cx="3200400" cy="36576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Three decisions now</a:t>
            </a:r>
            <a:endParaRPr lang="en-US" sz="2000" dirty="0"/>
          </a:p>
        </p:txBody>
      </p:sp>
      <p:sp>
        <p:nvSpPr>
          <p:cNvPr id="5" name="Decision circle 1"/>
          <p:cNvSpPr/>
          <p:nvPr/>
        </p:nvSpPr>
        <p:spPr>
          <a:xfrm>
            <a:off x="5486400" y="1463040"/>
            <a:ext cx="594360" cy="594360"/>
          </a:xfrm>
          <a:prstGeom prst="ellipse">
            <a:avLst/>
          </a:prstGeom>
          <a:solidFill>
            <a:schemeClr val="accent1"/>
          </a:solidFill>
          <a:ln w="12700">
            <a:solidFill>
              <a:schemeClr val="accent1"/>
            </a:solidFill>
            <a:prstDash val="solid"/>
          </a:ln>
        </p:spPr>
      </p:sp>
      <p:sp>
        <p:nvSpPr>
          <p:cNvPr id="6" name="Decision number 1"/>
          <p:cNvSpPr txBox="1"/>
          <p:nvPr/>
        </p:nvSpPr>
        <p:spPr>
          <a:xfrm>
            <a:off x="5486400" y="146304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7" name="Decision text 1"/>
          <p:cNvSpPr txBox="1"/>
          <p:nvPr/>
        </p:nvSpPr>
        <p:spPr>
          <a:xfrm>
            <a:off x="6263640" y="1463040"/>
            <a:ext cx="2423160" cy="594360"/>
          </a:xfrm>
          <a:prstGeom prst="rect">
            <a:avLst/>
          </a:prstGeom>
          <a:noFill/>
          <a:ln/>
        </p:spPr>
        <p:txBody>
          <a:bodyPr wrap="square" lIns="0" tIns="0" rIns="0" bIns="0" rtlCol="0" anchor="ctr"/>
          <a:lstStyle/>
          <a:p>
            <a:pPr marL="0" indent="0">
              <a:buNone/>
            </a:pPr>
            <a:r>
              <a:rPr lang="en-US" sz="1600" dirty="0">
                <a:solidFill>
                  <a:schemeClr val="bg1"/>
                </a:solidFill>
              </a:rPr>
              <a:t>Choose the first supported watch</a:t>
            </a:r>
            <a:endParaRPr lang="en-US" sz="1600" dirty="0"/>
          </a:p>
        </p:txBody>
      </p:sp>
      <p:sp>
        <p:nvSpPr>
          <p:cNvPr id="8" name="Decision circle 2"/>
          <p:cNvSpPr/>
          <p:nvPr/>
        </p:nvSpPr>
        <p:spPr>
          <a:xfrm>
            <a:off x="5486400" y="2514600"/>
            <a:ext cx="594360" cy="594360"/>
          </a:xfrm>
          <a:prstGeom prst="ellipse">
            <a:avLst/>
          </a:prstGeom>
          <a:solidFill>
            <a:schemeClr val="accent1"/>
          </a:solidFill>
          <a:ln w="12700">
            <a:solidFill>
              <a:schemeClr val="accent1"/>
            </a:solidFill>
            <a:prstDash val="solid"/>
          </a:ln>
        </p:spPr>
      </p:sp>
      <p:sp>
        <p:nvSpPr>
          <p:cNvPr id="9" name="Decision number 2"/>
          <p:cNvSpPr txBox="1"/>
          <p:nvPr/>
        </p:nvSpPr>
        <p:spPr>
          <a:xfrm>
            <a:off x="5486400" y="251460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0" name="Decision text 2"/>
          <p:cNvSpPr txBox="1"/>
          <p:nvPr/>
        </p:nvSpPr>
        <p:spPr>
          <a:xfrm>
            <a:off x="6263640" y="2514600"/>
            <a:ext cx="2423160" cy="594360"/>
          </a:xfrm>
          <a:prstGeom prst="rect">
            <a:avLst/>
          </a:prstGeom>
          <a:noFill/>
          <a:ln/>
        </p:spPr>
        <p:txBody>
          <a:bodyPr wrap="square" lIns="0" tIns="0" rIns="0" bIns="0" rtlCol="0" anchor="ctr"/>
          <a:lstStyle/>
          <a:p>
            <a:pPr marL="0" indent="0">
              <a:buNone/>
            </a:pPr>
            <a:r>
              <a:rPr lang="en-US" sz="1600" dirty="0">
                <a:solidFill>
                  <a:schemeClr val="bg1"/>
                </a:solidFill>
              </a:rPr>
              <a:t>Build the dead-man's alert (FR-7)</a:t>
            </a:r>
            <a:endParaRPr lang="en-US" sz="1600" dirty="0"/>
          </a:p>
        </p:txBody>
      </p:sp>
      <p:sp>
        <p:nvSpPr>
          <p:cNvPr id="11" name="Decision circle 3"/>
          <p:cNvSpPr/>
          <p:nvPr/>
        </p:nvSpPr>
        <p:spPr>
          <a:xfrm>
            <a:off x="5486400" y="3566160"/>
            <a:ext cx="594360" cy="594360"/>
          </a:xfrm>
          <a:prstGeom prst="ellipse">
            <a:avLst/>
          </a:prstGeom>
          <a:solidFill>
            <a:schemeClr val="accent1"/>
          </a:solidFill>
          <a:ln w="12700">
            <a:solidFill>
              <a:schemeClr val="accent1"/>
            </a:solidFill>
            <a:prstDash val="solid"/>
          </a:ln>
        </p:spPr>
      </p:sp>
      <p:sp>
        <p:nvSpPr>
          <p:cNvPr id="12" name="Decision number 3"/>
          <p:cNvSpPr txBox="1"/>
          <p:nvPr/>
        </p:nvSpPr>
        <p:spPr>
          <a:xfrm>
            <a:off x="5486400" y="3566160"/>
            <a:ext cx="594360" cy="594360"/>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3" name="Decision text 3"/>
          <p:cNvSpPr txBox="1"/>
          <p:nvPr/>
        </p:nvSpPr>
        <p:spPr>
          <a:xfrm>
            <a:off x="6263640" y="3566160"/>
            <a:ext cx="2423160" cy="594360"/>
          </a:xfrm>
          <a:prstGeom prst="rect">
            <a:avLst/>
          </a:prstGeom>
          <a:noFill/>
          <a:ln/>
        </p:spPr>
        <p:txBody>
          <a:bodyPr wrap="square" lIns="0" tIns="0" rIns="0" bIns="0" rtlCol="0" anchor="ctr"/>
          <a:lstStyle/>
          <a:p>
            <a:pPr marL="0" indent="0">
              <a:buNone/>
            </a:pPr>
            <a:r>
              <a:rPr lang="en-US" sz="1600" dirty="0">
                <a:solidFill>
                  <a:schemeClr val="bg1"/>
                </a:solidFill>
              </a:rPr>
              <a:t>Collect recorded sessions for replay evals</a:t>
            </a:r>
            <a:endParaRPr lang="en-US" sz="1600" dirty="0"/>
          </a:p>
        </p:txBody>
      </p:sp>
      <p:sp>
        <p:nvSpPr>
          <p:cNvPr id="14" name="Thanks"/>
          <p:cNvSpPr txBox="1"/>
          <p:nvPr/>
        </p:nvSpPr>
        <p:spPr>
          <a:xfrm>
            <a:off x="548640" y="4297680"/>
            <a:ext cx="4023360" cy="320040"/>
          </a:xfrm>
          <a:prstGeom prst="rect">
            <a:avLst/>
          </a:prstGeom>
          <a:noFill/>
          <a:ln/>
        </p:spPr>
        <p:txBody>
          <a:bodyPr wrap="square" lIns="0" tIns="0" rIns="0" bIns="0" rtlCol="0" anchor="t"/>
          <a:lstStyle/>
          <a:p>
            <a:pPr marL="0" indent="0">
              <a:buNone/>
            </a:pPr>
            <a:r>
              <a:rPr lang="en-US" sz="1600" dirty="0">
                <a:solidFill>
                  <a:schemeClr val="bg2"/>
                </a:solidFill>
              </a:rPr>
              <a:t>Thank you. Questions welcome.</a:t>
            </a:r>
            <a:endParaRPr lang="en-US" sz="1600" dirty="0"/>
          </a:p>
        </p:txBody>
      </p:sp>
    </p:spTree>
  </p:cSld>
  <p:clrMapOvr>
    <a:masterClrMapping/>
  </p:clrMapOvr>
</p:sld>
</file>

<file path=ppt/theme/theme1.xml><?xml version="1.0" encoding="utf-8"?>
<a:theme xmlns:a="http://schemas.openxmlformats.org/drawingml/2006/main" name="Asphalt and Pulse">
  <a:themeElements>
    <a:clrScheme name="Asphalt and Pulse">
      <a:dk1>
        <a:srgbClr val="1B1F27"/>
      </a:dk1>
      <a:lt1>
        <a:srgbClr val="FFFFFF"/>
      </a:lt1>
      <a:dk2>
        <a:srgbClr val="20242C"/>
      </a:dk2>
      <a:lt2>
        <a:srgbClr val="F3F4F6"/>
      </a:lt2>
      <a:accent1>
        <a:srgbClr val="E5484D"/>
      </a:accent1>
      <a:accent2>
        <a:srgbClr val="2FB26B"/>
      </a:accent2>
      <a:accent3>
        <a:srgbClr val="F5A524"/>
      </a:accent3>
      <a:accent4>
        <a:srgbClr val="6B7280"/>
      </a:accent4>
      <a:accent5>
        <a:srgbClr val="3A4150"/>
      </a:accent5>
      <a:accent6>
        <a:srgbClr val="B4232A"/>
      </a:accent6>
      <a:hlink>
        <a:srgbClr val="E5484D"/>
      </a:hlink>
      <a:folHlink>
        <a:srgbClr val="6B7280"/>
      </a:folHlink>
    </a:clrScheme>
    <a:fontScheme name="Asphalt and 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1372</Words>
  <Application>Microsoft Office PowerPoint</Application>
  <PresentationFormat>On-screen Show (16:9)</PresentationFormat>
  <Paragraphs>181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Asphalt and Pulse</vt:lpstr>
      <vt:lpstr>Stress-Aware Driving App</vt:lpstr>
      <vt:lpstr>A rare event with severe outcomes</vt:lpstr>
      <vt:lpstr>From wrist to a safe stop</vt:lpstr>
      <vt:lpstr>Two signals become one distress score</vt:lpstr>
      <vt:lpstr>The agent escalates one step at a time</vt:lpstr>
      <vt:lpstr>A human stays in control</vt:lpstr>
      <vt:lpstr>The prototype is largely built</vt:lpstr>
      <vt:lpstr>Heart rate flags distress, not disease</vt:lpstr>
      <vt:lpstr>Hardening comes before new features</vt:lpstr>
      <vt:lpstr>Finishing the roadmap: about $91K</vt:lpstr>
      <vt:lpstr>North Star: safe-response rate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Stress-Aware Driving App</dc:title>
  <dc:subject>PptxGenJS Presentation</dc:subject>
  <dc:creator>Stress-Aware Driving project</dc:creator>
  <cp:lastModifiedBy>Affreen Hussain</cp:lastModifiedBy>
  <cp:revision>2</cp:revision>
  <dcterms:created xsi:type="dcterms:W3CDTF">2026-10-11T00:02:44Z</dcterms:created>
  <dcterms:modified xsi:type="dcterms:W3CDTF">2026-10-11T16:54:58Z</dcterms:modified>
</cp:coreProperties>
</file>